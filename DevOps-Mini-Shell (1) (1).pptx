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embeddedFontLst>
    <p:embeddedFont>
      <p:font typeface="Source Sans 3" panose="020B0604020202020204" charset="0"/>
      <p:regular r:id="rId12"/>
    </p:embeddedFont>
    <p:embeddedFont>
      <p:font typeface="Source Sans 3 Bold" panose="020B0604020202020204" charset="0"/>
      <p:regular r:id="rId13"/>
    </p:embeddedFont>
    <p:embeddedFont>
      <p:font typeface="Source Serif 4 Semi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DFD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891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23577" y="429592"/>
            <a:ext cx="8096845" cy="607219"/>
          </a:xfrm>
          <a:prstGeom prst="rect">
            <a:avLst/>
          </a:prstGeom>
          <a:noFill/>
          <a:ln/>
        </p:spPr>
        <p:txBody>
          <a:bodyPr wrap="none" lIns="0" tIns="0" rIns="0" bIns="0" rtlCol="0" anchor="t"/>
          <a:lstStyle/>
          <a:p>
            <a:pPr marL="0" indent="0" algn="ctr">
              <a:lnSpc>
                <a:spcPct val="104000"/>
              </a:lnSpc>
              <a:buNone/>
            </a:pPr>
            <a:r>
              <a:rPr lang="en-US" sz="3800" kern="0" spc="-77" dirty="0">
                <a:solidFill>
                  <a:srgbClr val="000000"/>
                </a:solidFill>
                <a:latin typeface="Source Serif 4 SemiBold" pitchFamily="34" charset="0"/>
                <a:ea typeface="Source Serif 4 SemiBold" pitchFamily="34" charset="-122"/>
                <a:cs typeface="Source Serif 4 SemiBold" pitchFamily="34" charset="-120"/>
              </a:rPr>
              <a:t>DevOps Mini Shell</a:t>
            </a:r>
            <a:endParaRPr lang="en-US" sz="3800" dirty="0"/>
          </a:p>
        </p:txBody>
      </p:sp>
      <p:sp>
        <p:nvSpPr>
          <p:cNvPr id="3" name="Shape 1"/>
          <p:cNvSpPr/>
          <p:nvPr/>
        </p:nvSpPr>
        <p:spPr>
          <a:xfrm>
            <a:off x="523577" y="1373386"/>
            <a:ext cx="8096845" cy="19050"/>
          </a:xfrm>
          <a:prstGeom prst="roundRect">
            <a:avLst>
              <a:gd name="adj" fmla="val 50000"/>
            </a:avLst>
          </a:prstGeom>
          <a:solidFill>
            <a:srgbClr val="272525">
              <a:alpha val="50000"/>
            </a:srgbClr>
          </a:solidFill>
          <a:ln/>
        </p:spPr>
      </p:sp>
      <p:sp>
        <p:nvSpPr>
          <p:cNvPr id="4" name="Text 2"/>
          <p:cNvSpPr/>
          <p:nvPr/>
        </p:nvSpPr>
        <p:spPr>
          <a:xfrm>
            <a:off x="523577" y="1747614"/>
            <a:ext cx="3865959" cy="263947"/>
          </a:xfrm>
          <a:prstGeom prst="rect">
            <a:avLst/>
          </a:prstGeom>
          <a:noFill/>
          <a:ln/>
        </p:spPr>
        <p:txBody>
          <a:bodyPr wrap="none" lIns="0" tIns="0" rIns="0" bIns="0" rtlCol="0" anchor="t"/>
          <a:lstStyle/>
          <a:p>
            <a:pPr marL="0" indent="0" algn="l">
              <a:lnSpc>
                <a:spcPct val="104000"/>
              </a:lnSpc>
              <a:buNone/>
            </a:pPr>
            <a:r>
              <a:rPr lang="en-US" sz="1650" kern="0" spc="-33" dirty="0">
                <a:solidFill>
                  <a:srgbClr val="000000"/>
                </a:solidFill>
                <a:latin typeface="Source Serif 4 SemiBold" pitchFamily="34" charset="0"/>
                <a:ea typeface="Source Serif 4 SemiBold" pitchFamily="34" charset="-122"/>
                <a:cs typeface="Source Serif 4 SemiBold" pitchFamily="34" charset="-120"/>
              </a:rPr>
              <a:t>Team Members</a:t>
            </a:r>
            <a:endParaRPr lang="en-US" sz="1650" dirty="0"/>
          </a:p>
        </p:txBody>
      </p:sp>
      <p:sp>
        <p:nvSpPr>
          <p:cNvPr id="5" name="Text 3"/>
          <p:cNvSpPr/>
          <p:nvPr/>
        </p:nvSpPr>
        <p:spPr>
          <a:xfrm>
            <a:off x="523577" y="2161133"/>
            <a:ext cx="4323159" cy="239390"/>
          </a:xfrm>
          <a:prstGeom prst="rect">
            <a:avLst/>
          </a:prstGeom>
          <a:noFill/>
          <a:ln/>
        </p:spPr>
        <p:txBody>
          <a:bodyPr wrap="none" lIns="0" tIns="0" rIns="0" bIns="0" rtlCol="0" anchor="t"/>
          <a:lstStyle/>
          <a:p>
            <a:pPr marL="0" indent="0" algn="l">
              <a:lnSpc>
                <a:spcPct val="133000"/>
              </a:lnSpc>
              <a:buNone/>
            </a:pPr>
            <a:r>
              <a:rPr lang="en-US" sz="1150" kern="0" spc="-24" dirty="0">
                <a:solidFill>
                  <a:srgbClr val="272525"/>
                </a:solidFill>
                <a:latin typeface="Source Sans 3" pitchFamily="34" charset="0"/>
                <a:ea typeface="Source Sans 3" pitchFamily="34" charset="-122"/>
                <a:cs typeface="Source Sans 3" pitchFamily="34" charset="-120"/>
              </a:rPr>
              <a:t>01 Gokul Arnav</a:t>
            </a:r>
            <a:endParaRPr lang="en-US" sz="1150" dirty="0"/>
          </a:p>
        </p:txBody>
      </p:sp>
      <p:sp>
        <p:nvSpPr>
          <p:cNvPr id="6" name="Shape 4"/>
          <p:cNvSpPr/>
          <p:nvPr/>
        </p:nvSpPr>
        <p:spPr>
          <a:xfrm>
            <a:off x="523577" y="2606129"/>
            <a:ext cx="3865959" cy="19050"/>
          </a:xfrm>
          <a:prstGeom prst="roundRect">
            <a:avLst>
              <a:gd name="adj" fmla="val 50000"/>
            </a:avLst>
          </a:prstGeom>
          <a:solidFill>
            <a:srgbClr val="272525">
              <a:alpha val="50000"/>
            </a:srgbClr>
          </a:solidFill>
          <a:ln/>
        </p:spPr>
      </p:sp>
      <p:sp>
        <p:nvSpPr>
          <p:cNvPr id="7" name="Text 5"/>
          <p:cNvSpPr/>
          <p:nvPr/>
        </p:nvSpPr>
        <p:spPr>
          <a:xfrm>
            <a:off x="523577" y="2830785"/>
            <a:ext cx="4323159" cy="239390"/>
          </a:xfrm>
          <a:prstGeom prst="rect">
            <a:avLst/>
          </a:prstGeom>
          <a:noFill/>
          <a:ln/>
        </p:spPr>
        <p:txBody>
          <a:bodyPr wrap="none" lIns="0" tIns="0" rIns="0" bIns="0" rtlCol="0" anchor="t"/>
          <a:lstStyle/>
          <a:p>
            <a:pPr marL="0" indent="0" algn="l">
              <a:lnSpc>
                <a:spcPct val="133000"/>
              </a:lnSpc>
              <a:buNone/>
            </a:pPr>
            <a:r>
              <a:rPr lang="en-US" sz="1150" kern="0" spc="-24" dirty="0">
                <a:solidFill>
                  <a:srgbClr val="272525"/>
                </a:solidFill>
                <a:latin typeface="Source Sans 3" pitchFamily="34" charset="0"/>
                <a:ea typeface="Source Sans 3" pitchFamily="34" charset="-122"/>
                <a:cs typeface="Source Sans 3" pitchFamily="34" charset="-120"/>
              </a:rPr>
              <a:t>02 Wasim</a:t>
            </a:r>
            <a:endParaRPr lang="en-US" sz="1150" dirty="0"/>
          </a:p>
        </p:txBody>
      </p:sp>
      <p:sp>
        <p:nvSpPr>
          <p:cNvPr id="8" name="Shape 6"/>
          <p:cNvSpPr/>
          <p:nvPr/>
        </p:nvSpPr>
        <p:spPr>
          <a:xfrm>
            <a:off x="523577" y="3275781"/>
            <a:ext cx="3865959" cy="19050"/>
          </a:xfrm>
          <a:prstGeom prst="roundRect">
            <a:avLst>
              <a:gd name="adj" fmla="val 50000"/>
            </a:avLst>
          </a:prstGeom>
          <a:solidFill>
            <a:srgbClr val="272525">
              <a:alpha val="50000"/>
            </a:srgbClr>
          </a:solidFill>
          <a:ln/>
        </p:spPr>
      </p:sp>
      <p:sp>
        <p:nvSpPr>
          <p:cNvPr id="9" name="Text 7"/>
          <p:cNvSpPr/>
          <p:nvPr/>
        </p:nvSpPr>
        <p:spPr>
          <a:xfrm>
            <a:off x="523577" y="3500438"/>
            <a:ext cx="4323159" cy="239390"/>
          </a:xfrm>
          <a:prstGeom prst="rect">
            <a:avLst/>
          </a:prstGeom>
          <a:noFill/>
          <a:ln/>
        </p:spPr>
        <p:txBody>
          <a:bodyPr wrap="none" lIns="0" tIns="0" rIns="0" bIns="0" rtlCol="0" anchor="t"/>
          <a:lstStyle/>
          <a:p>
            <a:pPr>
              <a:lnSpc>
                <a:spcPct val="133000"/>
              </a:lnSpc>
            </a:pPr>
            <a:r>
              <a:rPr lang="en-US" sz="1150" kern="0" spc="-24" dirty="0">
                <a:solidFill>
                  <a:srgbClr val="272525"/>
                </a:solidFill>
                <a:latin typeface="Source Sans 3" pitchFamily="34" charset="0"/>
                <a:ea typeface="Source Sans 3" pitchFamily="34" charset="-122"/>
                <a:cs typeface="Source Sans 3" pitchFamily="34" charset="-120"/>
              </a:rPr>
              <a:t>03 </a:t>
            </a:r>
            <a:r>
              <a:rPr lang="en-US" sz="1150" kern="0" spc="-24" dirty="0" err="1">
                <a:solidFill>
                  <a:srgbClr val="272525"/>
                </a:solidFill>
                <a:latin typeface="Source Sans 3" pitchFamily="34" charset="0"/>
                <a:ea typeface="Source Sans 3" pitchFamily="34" charset="-122"/>
                <a:cs typeface="Source Sans 3" pitchFamily="34" charset="-120"/>
              </a:rPr>
              <a:t>Binamra</a:t>
            </a:r>
            <a:endParaRPr lang="en-US" sz="1150" dirty="0"/>
          </a:p>
        </p:txBody>
      </p:sp>
      <p:sp>
        <p:nvSpPr>
          <p:cNvPr id="10" name="Shape 8"/>
          <p:cNvSpPr/>
          <p:nvPr/>
        </p:nvSpPr>
        <p:spPr>
          <a:xfrm>
            <a:off x="523577" y="3945434"/>
            <a:ext cx="3865959" cy="19050"/>
          </a:xfrm>
          <a:prstGeom prst="roundRect">
            <a:avLst>
              <a:gd name="adj" fmla="val 50000"/>
            </a:avLst>
          </a:prstGeom>
          <a:solidFill>
            <a:srgbClr val="272525">
              <a:alpha val="50000"/>
            </a:srgbClr>
          </a:solidFill>
          <a:ln/>
        </p:spPr>
      </p:sp>
      <p:sp>
        <p:nvSpPr>
          <p:cNvPr id="11" name="Text 9"/>
          <p:cNvSpPr/>
          <p:nvPr/>
        </p:nvSpPr>
        <p:spPr>
          <a:xfrm>
            <a:off x="4759226" y="1747614"/>
            <a:ext cx="3865959" cy="263947"/>
          </a:xfrm>
          <a:prstGeom prst="rect">
            <a:avLst/>
          </a:prstGeom>
          <a:noFill/>
          <a:ln/>
        </p:spPr>
        <p:txBody>
          <a:bodyPr wrap="none" lIns="0" tIns="0" rIns="0" bIns="0" rtlCol="0" anchor="t"/>
          <a:lstStyle/>
          <a:p>
            <a:pPr marL="0" indent="0" algn="l">
              <a:lnSpc>
                <a:spcPct val="104000"/>
              </a:lnSpc>
              <a:buNone/>
            </a:pPr>
            <a:r>
              <a:rPr lang="en-US" sz="1650" kern="0" spc="-33" dirty="0">
                <a:solidFill>
                  <a:srgbClr val="000000"/>
                </a:solidFill>
                <a:latin typeface="Source Serif 4 SemiBold" pitchFamily="34" charset="0"/>
                <a:ea typeface="Source Serif 4 SemiBold" pitchFamily="34" charset="-122"/>
                <a:cs typeface="Source Serif 4 SemiBold" pitchFamily="34" charset="-120"/>
              </a:rPr>
              <a:t>Course</a:t>
            </a:r>
            <a:endParaRPr lang="en-US" sz="1650" dirty="0"/>
          </a:p>
        </p:txBody>
      </p:sp>
      <p:sp>
        <p:nvSpPr>
          <p:cNvPr id="12" name="Text 10"/>
          <p:cNvSpPr/>
          <p:nvPr/>
        </p:nvSpPr>
        <p:spPr>
          <a:xfrm>
            <a:off x="4759226" y="2161133"/>
            <a:ext cx="4323159" cy="239390"/>
          </a:xfrm>
          <a:prstGeom prst="rect">
            <a:avLst/>
          </a:prstGeom>
          <a:noFill/>
          <a:ln/>
        </p:spPr>
        <p:txBody>
          <a:bodyPr wrap="none" lIns="0" tIns="0" rIns="0" bIns="0" rtlCol="0" anchor="t"/>
          <a:lstStyle/>
          <a:p>
            <a:pPr marL="0" indent="0" algn="l">
              <a:lnSpc>
                <a:spcPct val="133000"/>
              </a:lnSpc>
              <a:buNone/>
            </a:pPr>
            <a:r>
              <a:rPr lang="en-US" sz="1150" kern="0" spc="-24" dirty="0">
                <a:solidFill>
                  <a:srgbClr val="272525"/>
                </a:solidFill>
                <a:latin typeface="Source Sans 3" pitchFamily="34" charset="0"/>
                <a:ea typeface="Source Sans 3" pitchFamily="34" charset="-122"/>
                <a:cs typeface="Source Sans 3" pitchFamily="34" charset="-120"/>
              </a:rPr>
              <a:t>Operating Systems and System Programming</a:t>
            </a:r>
            <a:endParaRPr lang="en-US" sz="1150" dirty="0"/>
          </a:p>
        </p:txBody>
      </p:sp>
      <p:sp>
        <p:nvSpPr>
          <p:cNvPr id="13" name="Text 11"/>
          <p:cNvSpPr/>
          <p:nvPr/>
        </p:nvSpPr>
        <p:spPr>
          <a:xfrm>
            <a:off x="4759226" y="2550096"/>
            <a:ext cx="3865959" cy="263947"/>
          </a:xfrm>
          <a:prstGeom prst="rect">
            <a:avLst/>
          </a:prstGeom>
          <a:noFill/>
          <a:ln/>
        </p:spPr>
        <p:txBody>
          <a:bodyPr wrap="none" lIns="0" tIns="0" rIns="0" bIns="0" rtlCol="0" anchor="t"/>
          <a:lstStyle/>
          <a:p>
            <a:pPr marL="0" indent="0" algn="l">
              <a:lnSpc>
                <a:spcPct val="104000"/>
              </a:lnSpc>
              <a:buNone/>
            </a:pPr>
            <a:r>
              <a:rPr lang="en-US" sz="1650" kern="0" spc="-33" dirty="0">
                <a:solidFill>
                  <a:srgbClr val="000000"/>
                </a:solidFill>
                <a:latin typeface="Source Serif 4 SemiBold" pitchFamily="34" charset="0"/>
                <a:ea typeface="Source Serif 4 SemiBold" pitchFamily="34" charset="-122"/>
                <a:cs typeface="Source Serif 4 SemiBold" pitchFamily="34" charset="-120"/>
              </a:rPr>
              <a:t>Project Features</a:t>
            </a:r>
            <a:endParaRPr lang="en-US" sz="1650" dirty="0"/>
          </a:p>
        </p:txBody>
      </p:sp>
      <p:sp>
        <p:nvSpPr>
          <p:cNvPr id="14" name="Text 12"/>
          <p:cNvSpPr/>
          <p:nvPr/>
        </p:nvSpPr>
        <p:spPr>
          <a:xfrm>
            <a:off x="4759226" y="2963614"/>
            <a:ext cx="3865959" cy="1697906"/>
          </a:xfrm>
          <a:prstGeom prst="rect">
            <a:avLst/>
          </a:prstGeom>
          <a:noFill/>
          <a:ln/>
        </p:spPr>
        <p:txBody>
          <a:bodyPr wrap="square" lIns="0" tIns="59845" rIns="0" bIns="0" rtlCol="0" anchor="t">
            <a:normAutofit/>
          </a:bodyPr>
          <a:lstStyle/>
          <a:p>
            <a:pPr marL="233680" indent="-233680" algn="l">
              <a:lnSpc>
                <a:spcPct val="133000"/>
              </a:lnSpc>
              <a:buSzPct val="100000"/>
              <a:buChar char="•"/>
            </a:pPr>
            <a:r>
              <a:rPr lang="en-US" sz="1150" kern="0" spc="-24" dirty="0">
                <a:solidFill>
                  <a:srgbClr val="272525"/>
                </a:solidFill>
                <a:latin typeface="Source Sans 3" pitchFamily="34" charset="0"/>
                <a:ea typeface="Source Sans 3" pitchFamily="34" charset="-122"/>
                <a:cs typeface="Source Sans 3" pitchFamily="34" charset="-120"/>
              </a:rPr>
              <a:t>Unified DevOps command execution</a:t>
            </a:r>
            <a:endParaRPr lang="en-US" sz="1150" dirty="0"/>
          </a:p>
          <a:p>
            <a:pPr marL="233680" indent="-233680" algn="l">
              <a:lnSpc>
                <a:spcPct val="133000"/>
              </a:lnSpc>
              <a:buSzPct val="100000"/>
              <a:buChar char="•"/>
            </a:pPr>
            <a:r>
              <a:rPr lang="en-US" sz="1150" kern="0" spc="-24" dirty="0">
                <a:solidFill>
                  <a:srgbClr val="272525"/>
                </a:solidFill>
                <a:latin typeface="Source Sans 3" pitchFamily="34" charset="0"/>
                <a:ea typeface="Source Sans 3" pitchFamily="34" charset="-122"/>
                <a:cs typeface="Source Sans 3" pitchFamily="34" charset="-120"/>
              </a:rPr>
              <a:t>Git and version control commands</a:t>
            </a:r>
            <a:endParaRPr lang="en-US" sz="1150" dirty="0"/>
          </a:p>
          <a:p>
            <a:pPr marL="233680" indent="-233680" algn="l">
              <a:lnSpc>
                <a:spcPct val="133000"/>
              </a:lnSpc>
              <a:buSzPct val="100000"/>
              <a:buChar char="•"/>
            </a:pPr>
            <a:r>
              <a:rPr lang="en-US" sz="1150" kern="0" spc="-24" dirty="0">
                <a:solidFill>
                  <a:srgbClr val="272525"/>
                </a:solidFill>
                <a:latin typeface="Source Sans 3" pitchFamily="34" charset="0"/>
                <a:ea typeface="Source Sans 3" pitchFamily="34" charset="-122"/>
                <a:cs typeface="Source Sans 3" pitchFamily="34" charset="-120"/>
              </a:rPr>
              <a:t>Build and deployment automation</a:t>
            </a:r>
            <a:endParaRPr lang="en-US" sz="1150" dirty="0"/>
          </a:p>
          <a:p>
            <a:pPr marL="233680" indent="-233680" algn="l">
              <a:lnSpc>
                <a:spcPct val="133000"/>
              </a:lnSpc>
              <a:buSzPct val="100000"/>
              <a:buChar char="•"/>
            </a:pPr>
            <a:r>
              <a:rPr lang="en-US" sz="1150" kern="0" spc="-24" dirty="0">
                <a:solidFill>
                  <a:srgbClr val="272525"/>
                </a:solidFill>
                <a:latin typeface="Source Sans 3" pitchFamily="34" charset="0"/>
                <a:ea typeface="Source Sans 3" pitchFamily="34" charset="-122"/>
                <a:cs typeface="Source Sans 3" pitchFamily="34" charset="-120"/>
              </a:rPr>
              <a:t>Docker and container operations</a:t>
            </a:r>
            <a:endParaRPr lang="en-US" sz="1150" dirty="0"/>
          </a:p>
          <a:p>
            <a:pPr marL="233680" indent="-233680" algn="l">
              <a:lnSpc>
                <a:spcPct val="133000"/>
              </a:lnSpc>
              <a:buSzPct val="100000"/>
              <a:buChar char="•"/>
            </a:pPr>
            <a:r>
              <a:rPr lang="en-US" sz="1150" kern="0" spc="-24" dirty="0">
                <a:solidFill>
                  <a:srgbClr val="272525"/>
                </a:solidFill>
                <a:latin typeface="Source Sans 3" pitchFamily="34" charset="0"/>
                <a:ea typeface="Source Sans 3" pitchFamily="34" charset="-122"/>
                <a:cs typeface="Source Sans 3" pitchFamily="34" charset="-120"/>
              </a:rPr>
              <a:t>Process and system monitoring</a:t>
            </a:r>
            <a:endParaRPr lang="en-US" sz="1150" dirty="0"/>
          </a:p>
          <a:p>
            <a:pPr marL="233680" indent="-233680" algn="l">
              <a:lnSpc>
                <a:spcPct val="133000"/>
              </a:lnSpc>
              <a:buSzPct val="100000"/>
              <a:buChar char="•"/>
            </a:pPr>
            <a:r>
              <a:rPr lang="en-US" sz="1150" kern="0" spc="-24" dirty="0">
                <a:solidFill>
                  <a:srgbClr val="272525"/>
                </a:solidFill>
                <a:latin typeface="Source Sans 3" pitchFamily="34" charset="0"/>
                <a:ea typeface="Source Sans 3" pitchFamily="34" charset="-122"/>
                <a:cs typeface="Source Sans 3" pitchFamily="34" charset="-120"/>
              </a:rPr>
              <a:t>Command execution and logging</a:t>
            </a:r>
            <a:endParaRPr lang="en-US" sz="1150" dirty="0"/>
          </a:p>
        </p:txBody>
      </p:sp>
      <p:sp>
        <p:nvSpPr>
          <p:cNvPr id="16" name="Text 7">
            <a:extLst>
              <a:ext uri="{FF2B5EF4-FFF2-40B4-BE49-F238E27FC236}">
                <a16:creationId xmlns:a16="http://schemas.microsoft.com/office/drawing/2014/main" id="{F6E4E1CD-31D5-007C-C4A2-596298007ED7}"/>
              </a:ext>
            </a:extLst>
          </p:cNvPr>
          <p:cNvSpPr/>
          <p:nvPr/>
        </p:nvSpPr>
        <p:spPr>
          <a:xfrm>
            <a:off x="518815" y="4066425"/>
            <a:ext cx="4323159" cy="239390"/>
          </a:xfrm>
          <a:prstGeom prst="rect">
            <a:avLst/>
          </a:prstGeom>
          <a:noFill/>
          <a:ln/>
        </p:spPr>
        <p:txBody>
          <a:bodyPr wrap="none" lIns="0" tIns="0" rIns="0" bIns="0" rtlCol="0" anchor="t"/>
          <a:lstStyle/>
          <a:p>
            <a:pPr>
              <a:lnSpc>
                <a:spcPct val="133000"/>
              </a:lnSpc>
            </a:pPr>
            <a:r>
              <a:rPr lang="en-US" sz="1150" kern="0" spc="-24" dirty="0">
                <a:solidFill>
                  <a:srgbClr val="272525"/>
                </a:solidFill>
                <a:latin typeface="Source Sans 3" pitchFamily="34" charset="0"/>
                <a:ea typeface="Source Sans 3" pitchFamily="34" charset="-122"/>
                <a:cs typeface="Source Sans 3" pitchFamily="34" charset="-120"/>
              </a:rPr>
              <a:t>04 Yogith </a:t>
            </a:r>
            <a:endParaRPr lang="en-US" sz="1150" dirty="0"/>
          </a:p>
        </p:txBody>
      </p:sp>
      <p:sp>
        <p:nvSpPr>
          <p:cNvPr id="21" name="Rectangle 20">
            <a:extLst>
              <a:ext uri="{FF2B5EF4-FFF2-40B4-BE49-F238E27FC236}">
                <a16:creationId xmlns:a16="http://schemas.microsoft.com/office/drawing/2014/main" id="{CA37B61E-0431-FC51-9579-7BC5B9F706A6}"/>
              </a:ext>
            </a:extLst>
          </p:cNvPr>
          <p:cNvSpPr/>
          <p:nvPr/>
        </p:nvSpPr>
        <p:spPr>
          <a:xfrm>
            <a:off x="7807890" y="4577010"/>
            <a:ext cx="1274496" cy="555171"/>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4" name="Picture 23">
            <a:extLst>
              <a:ext uri="{FF2B5EF4-FFF2-40B4-BE49-F238E27FC236}">
                <a16:creationId xmlns:a16="http://schemas.microsoft.com/office/drawing/2014/main" id="{FD922053-F30D-CD1F-6A96-584C4DDF3AD9}"/>
              </a:ext>
            </a:extLst>
          </p:cNvPr>
          <p:cNvPicPr>
            <a:picLocks noChangeAspect="1"/>
          </p:cNvPicPr>
          <p:nvPr/>
        </p:nvPicPr>
        <p:blipFill>
          <a:blip r:embed="rId3"/>
          <a:stretch>
            <a:fillRect/>
          </a:stretch>
        </p:blipFill>
        <p:spPr>
          <a:xfrm>
            <a:off x="7952831" y="4621570"/>
            <a:ext cx="984613" cy="4660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3577" y="411435"/>
            <a:ext cx="8096845" cy="419398"/>
          </a:xfrm>
          <a:prstGeom prst="rect">
            <a:avLst/>
          </a:prstGeom>
          <a:noFill/>
          <a:ln/>
        </p:spPr>
        <p:txBody>
          <a:bodyPr wrap="none" lIns="0" tIns="0" rIns="0" bIns="0" rtlCol="0" anchor="t"/>
          <a:lstStyle/>
          <a:p>
            <a:pPr marL="0" indent="0" algn="l">
              <a:lnSpc>
                <a:spcPct val="104000"/>
              </a:lnSpc>
              <a:buNone/>
            </a:pPr>
            <a:r>
              <a:rPr lang="en-US" sz="2600" kern="0" spc="-53" dirty="0">
                <a:solidFill>
                  <a:srgbClr val="000080"/>
                </a:solidFill>
                <a:latin typeface="Source Serif 4 SemiBold" pitchFamily="34" charset="0"/>
                <a:ea typeface="Source Serif 4 SemiBold" pitchFamily="34" charset="-122"/>
                <a:cs typeface="Source Serif 4 SemiBold" pitchFamily="34" charset="-120"/>
              </a:rPr>
              <a:t>Abstract</a:t>
            </a:r>
            <a:endParaRPr lang="en-US" sz="2600" dirty="0"/>
          </a:p>
        </p:txBody>
      </p:sp>
      <p:sp>
        <p:nvSpPr>
          <p:cNvPr id="3" name="Shape 1"/>
          <p:cNvSpPr/>
          <p:nvPr/>
        </p:nvSpPr>
        <p:spPr>
          <a:xfrm>
            <a:off x="523577" y="1070297"/>
            <a:ext cx="8096845" cy="19050"/>
          </a:xfrm>
          <a:prstGeom prst="roundRect">
            <a:avLst>
              <a:gd name="adj" fmla="val 50000"/>
            </a:avLst>
          </a:prstGeom>
          <a:solidFill>
            <a:srgbClr val="272525">
              <a:alpha val="50000"/>
            </a:srgbClr>
          </a:solidFill>
          <a:ln/>
        </p:spPr>
      </p:sp>
      <p:sp>
        <p:nvSpPr>
          <p:cNvPr id="4" name="Text 2"/>
          <p:cNvSpPr/>
          <p:nvPr/>
        </p:nvSpPr>
        <p:spPr>
          <a:xfrm>
            <a:off x="523577" y="1328812"/>
            <a:ext cx="8096845" cy="251594"/>
          </a:xfrm>
          <a:prstGeom prst="rect">
            <a:avLst/>
          </a:prstGeom>
          <a:noFill/>
          <a:ln/>
        </p:spPr>
        <p:txBody>
          <a:bodyPr wrap="none" lIns="0" tIns="0" rIns="0" bIns="0" rtlCol="0" anchor="t"/>
          <a:lstStyle/>
          <a:p>
            <a:pPr marL="0" indent="0" algn="l">
              <a:lnSpc>
                <a:spcPct val="104000"/>
              </a:lnSpc>
              <a:buNone/>
            </a:pPr>
            <a:r>
              <a:rPr lang="en-US" sz="1550" kern="0" spc="-32" dirty="0">
                <a:solidFill>
                  <a:srgbClr val="008000"/>
                </a:solidFill>
                <a:latin typeface="Source Serif 4 SemiBold" pitchFamily="34" charset="0"/>
                <a:ea typeface="Source Serif 4 SemiBold" pitchFamily="34" charset="-122"/>
                <a:cs typeface="Source Serif 4 SemiBold" pitchFamily="34" charset="-120"/>
              </a:rPr>
              <a:t>Project Overview</a:t>
            </a:r>
            <a:endParaRPr lang="en-US" sz="1550" dirty="0"/>
          </a:p>
        </p:txBody>
      </p:sp>
      <p:sp>
        <p:nvSpPr>
          <p:cNvPr id="5" name="Text 3"/>
          <p:cNvSpPr/>
          <p:nvPr/>
        </p:nvSpPr>
        <p:spPr>
          <a:xfrm>
            <a:off x="523577" y="1784226"/>
            <a:ext cx="8096845" cy="668164"/>
          </a:xfrm>
          <a:prstGeom prst="rect">
            <a:avLst/>
          </a:prstGeom>
          <a:noFill/>
          <a:ln/>
        </p:spPr>
        <p:txBody>
          <a:bodyPr wrap="square" lIns="0" tIns="0" rIns="0" bIns="0" rtlCol="0" anchor="t">
            <a:normAutofit/>
          </a:bodyPr>
          <a:lstStyle/>
          <a:p>
            <a:pPr marL="0" indent="0" algn="l">
              <a:lnSpc>
                <a:spcPct val="130000"/>
              </a:lnSpc>
              <a:buNone/>
            </a:pPr>
            <a:r>
              <a:rPr lang="en-US" sz="1100" kern="0" spc="-22" dirty="0">
                <a:solidFill>
                  <a:srgbClr val="36454F"/>
                </a:solidFill>
                <a:latin typeface="Source Sans 3" pitchFamily="34" charset="0"/>
                <a:ea typeface="Source Sans 3" pitchFamily="34" charset="-122"/>
                <a:cs typeface="Source Sans 3" pitchFamily="34" charset="-120"/>
              </a:rPr>
              <a:t>The DevOps Mini Shell is a unified command-line toolkit designed to simplify and combine common DevOps operations into a single shell environment. It provides practical support for Git, Docker, build and deployment tasks, system monitoring, and command execution, helping users perform multiple development and operations tasks efficiently from one interface.</a:t>
            </a:r>
            <a:endParaRPr lang="en-US" sz="1100" dirty="0"/>
          </a:p>
        </p:txBody>
      </p:sp>
      <p:sp>
        <p:nvSpPr>
          <p:cNvPr id="6" name="Text 4"/>
          <p:cNvSpPr/>
          <p:nvPr/>
        </p:nvSpPr>
        <p:spPr>
          <a:xfrm>
            <a:off x="523577" y="2656210"/>
            <a:ext cx="8096845" cy="251594"/>
          </a:xfrm>
          <a:prstGeom prst="rect">
            <a:avLst/>
          </a:prstGeom>
          <a:noFill/>
          <a:ln/>
        </p:spPr>
        <p:txBody>
          <a:bodyPr wrap="none" lIns="0" tIns="0" rIns="0" bIns="0" rtlCol="0" anchor="t"/>
          <a:lstStyle/>
          <a:p>
            <a:pPr marL="0" indent="0" algn="l">
              <a:lnSpc>
                <a:spcPct val="104000"/>
              </a:lnSpc>
              <a:buNone/>
            </a:pPr>
            <a:r>
              <a:rPr lang="en-US" sz="1550" kern="0" spc="-32" dirty="0">
                <a:solidFill>
                  <a:srgbClr val="008000"/>
                </a:solidFill>
                <a:latin typeface="Source Serif 4 SemiBold" pitchFamily="34" charset="0"/>
                <a:ea typeface="Source Serif 4 SemiBold" pitchFamily="34" charset="-122"/>
                <a:cs typeface="Source Serif 4 SemiBold" pitchFamily="34" charset="-120"/>
              </a:rPr>
              <a:t>Key Points</a:t>
            </a:r>
            <a:endParaRPr lang="en-US" sz="1550" dirty="0"/>
          </a:p>
        </p:txBody>
      </p:sp>
      <p:sp>
        <p:nvSpPr>
          <p:cNvPr id="7" name="Text 5"/>
          <p:cNvSpPr/>
          <p:nvPr/>
        </p:nvSpPr>
        <p:spPr>
          <a:xfrm>
            <a:off x="523577" y="3111624"/>
            <a:ext cx="8096845" cy="1574081"/>
          </a:xfrm>
          <a:prstGeom prst="rect">
            <a:avLst/>
          </a:prstGeom>
          <a:noFill/>
          <a:ln/>
        </p:spPr>
        <p:txBody>
          <a:bodyPr wrap="square" lIns="0" tIns="57040" rIns="0" bIns="0" rtlCol="0" anchor="t">
            <a:normAutofit/>
          </a:bodyPr>
          <a:lstStyle/>
          <a:p>
            <a:pPr marL="223520" indent="-223520" algn="l">
              <a:lnSpc>
                <a:spcPct val="130000"/>
              </a:lnSpc>
              <a:buSzPct val="100000"/>
              <a:buChar char="•"/>
            </a:pPr>
            <a:r>
              <a:rPr lang="en-US" sz="1100" kern="0" spc="-22" dirty="0">
                <a:solidFill>
                  <a:srgbClr val="272525"/>
                </a:solidFill>
                <a:latin typeface="Source Sans 3" pitchFamily="34" charset="0"/>
                <a:ea typeface="Source Sans 3" pitchFamily="34" charset="-122"/>
                <a:cs typeface="Source Sans 3" pitchFamily="34" charset="-120"/>
              </a:rPr>
              <a:t>Provides a unified interface for common DevOps operations</a:t>
            </a:r>
            <a:endParaRPr lang="en-US" sz="1100" dirty="0"/>
          </a:p>
          <a:p>
            <a:pPr marL="223520" indent="-223520" algn="l">
              <a:lnSpc>
                <a:spcPct val="130000"/>
              </a:lnSpc>
              <a:buSzPct val="100000"/>
              <a:buChar char="•"/>
            </a:pPr>
            <a:r>
              <a:rPr lang="en-US" sz="1100" kern="0" spc="-22" dirty="0">
                <a:solidFill>
                  <a:srgbClr val="272525"/>
                </a:solidFill>
                <a:latin typeface="Source Sans 3" pitchFamily="34" charset="0"/>
                <a:ea typeface="Source Sans 3" pitchFamily="34" charset="-122"/>
                <a:cs typeface="Source Sans 3" pitchFamily="34" charset="-120"/>
              </a:rPr>
              <a:t>Supports Git and version control commands</a:t>
            </a:r>
            <a:endParaRPr lang="en-US" sz="1100" dirty="0"/>
          </a:p>
          <a:p>
            <a:pPr marL="223520" indent="-223520" algn="l">
              <a:lnSpc>
                <a:spcPct val="130000"/>
              </a:lnSpc>
              <a:buSzPct val="100000"/>
              <a:buChar char="•"/>
            </a:pPr>
            <a:r>
              <a:rPr lang="en-US" sz="1100" kern="0" spc="-22" dirty="0">
                <a:solidFill>
                  <a:srgbClr val="272525"/>
                </a:solidFill>
                <a:latin typeface="Source Sans 3" pitchFamily="34" charset="0"/>
                <a:ea typeface="Source Sans 3" pitchFamily="34" charset="-122"/>
                <a:cs typeface="Source Sans 3" pitchFamily="34" charset="-120"/>
              </a:rPr>
              <a:t>Simplifies Docker and container-related operations</a:t>
            </a:r>
            <a:endParaRPr lang="en-US" sz="1100" dirty="0"/>
          </a:p>
          <a:p>
            <a:pPr marL="223520" indent="-223520" algn="l">
              <a:lnSpc>
                <a:spcPct val="130000"/>
              </a:lnSpc>
              <a:buSzPct val="100000"/>
              <a:buChar char="•"/>
            </a:pPr>
            <a:r>
              <a:rPr lang="en-US" sz="1100" kern="0" spc="-22" dirty="0">
                <a:solidFill>
                  <a:srgbClr val="272525"/>
                </a:solidFill>
                <a:latin typeface="Source Sans 3" pitchFamily="34" charset="0"/>
                <a:ea typeface="Source Sans 3" pitchFamily="34" charset="-122"/>
                <a:cs typeface="Source Sans 3" pitchFamily="34" charset="-120"/>
              </a:rPr>
              <a:t>Enables build and deployment automation</a:t>
            </a:r>
            <a:endParaRPr lang="en-US" sz="1100" dirty="0"/>
          </a:p>
          <a:p>
            <a:pPr marL="223520" indent="-223520" algn="l">
              <a:lnSpc>
                <a:spcPct val="130000"/>
              </a:lnSpc>
              <a:buSzPct val="100000"/>
              <a:buChar char="•"/>
            </a:pPr>
            <a:r>
              <a:rPr lang="en-US" sz="1100" kern="0" spc="-22" dirty="0">
                <a:solidFill>
                  <a:srgbClr val="272525"/>
                </a:solidFill>
                <a:latin typeface="Source Sans 3" pitchFamily="34" charset="0"/>
                <a:ea typeface="Source Sans 3" pitchFamily="34" charset="-122"/>
                <a:cs typeface="Source Sans 3" pitchFamily="34" charset="-120"/>
              </a:rPr>
              <a:t>Provides process and system monitoring</a:t>
            </a:r>
            <a:endParaRPr lang="en-US" sz="1100" dirty="0"/>
          </a:p>
          <a:p>
            <a:pPr marL="223520" indent="-223520" algn="l">
              <a:lnSpc>
                <a:spcPct val="130000"/>
              </a:lnSpc>
              <a:buSzPct val="100000"/>
              <a:buChar char="•"/>
            </a:pPr>
            <a:r>
              <a:rPr lang="en-US" sz="1100" kern="0" spc="-22" dirty="0">
                <a:solidFill>
                  <a:srgbClr val="272525"/>
                </a:solidFill>
                <a:latin typeface="Source Sans 3" pitchFamily="34" charset="0"/>
                <a:ea typeface="Source Sans 3" pitchFamily="34" charset="-122"/>
                <a:cs typeface="Source Sans 3" pitchFamily="34" charset="-120"/>
              </a:rPr>
              <a:t>Combines multiple commands into a single shell environment</a:t>
            </a:r>
            <a:endParaRPr lang="en-US" sz="1100" dirty="0"/>
          </a:p>
        </p:txBody>
      </p:sp>
      <p:sp>
        <p:nvSpPr>
          <p:cNvPr id="9" name="Rectangle 8">
            <a:extLst>
              <a:ext uri="{FF2B5EF4-FFF2-40B4-BE49-F238E27FC236}">
                <a16:creationId xmlns:a16="http://schemas.microsoft.com/office/drawing/2014/main" id="{A4147675-04A9-8A60-FC54-C1CD66205FBF}"/>
              </a:ext>
            </a:extLst>
          </p:cNvPr>
          <p:cNvSpPr/>
          <p:nvPr/>
        </p:nvSpPr>
        <p:spPr>
          <a:xfrm>
            <a:off x="7807890" y="4577010"/>
            <a:ext cx="1274496" cy="555171"/>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7FF2EF3A-19B4-DA1C-9BE4-C0A4AC7007AF}"/>
              </a:ext>
            </a:extLst>
          </p:cNvPr>
          <p:cNvPicPr>
            <a:picLocks noChangeAspect="1"/>
          </p:cNvPicPr>
          <p:nvPr/>
        </p:nvPicPr>
        <p:blipFill>
          <a:blip r:embed="rId3"/>
          <a:stretch>
            <a:fillRect/>
          </a:stretch>
        </p:blipFill>
        <p:spPr>
          <a:xfrm>
            <a:off x="7952831" y="4621570"/>
            <a:ext cx="984613" cy="4660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23577" y="411435"/>
            <a:ext cx="8096845" cy="391864"/>
          </a:xfrm>
          <a:prstGeom prst="rect">
            <a:avLst/>
          </a:prstGeom>
          <a:noFill/>
          <a:ln/>
        </p:spPr>
        <p:txBody>
          <a:bodyPr wrap="none" lIns="0" tIns="0" rIns="0" bIns="0" rtlCol="0" anchor="t"/>
          <a:lstStyle/>
          <a:p>
            <a:pPr marL="0" indent="0" algn="l">
              <a:lnSpc>
                <a:spcPct val="104000"/>
              </a:lnSpc>
              <a:buNone/>
            </a:pPr>
            <a:r>
              <a:rPr lang="en-US" sz="2450" kern="0" spc="-49" dirty="0">
                <a:solidFill>
                  <a:srgbClr val="000080"/>
                </a:solidFill>
                <a:latin typeface="Source Serif 4 SemiBold" pitchFamily="34" charset="0"/>
                <a:ea typeface="Source Serif 4 SemiBold" pitchFamily="34" charset="-122"/>
                <a:cs typeface="Source Serif 4 SemiBold" pitchFamily="34" charset="-120"/>
              </a:rPr>
              <a:t>Problem Statement</a:t>
            </a:r>
            <a:endParaRPr lang="en-US" sz="2450" dirty="0"/>
          </a:p>
        </p:txBody>
      </p:sp>
      <p:sp>
        <p:nvSpPr>
          <p:cNvPr id="3" name="Shape 1"/>
          <p:cNvSpPr/>
          <p:nvPr/>
        </p:nvSpPr>
        <p:spPr>
          <a:xfrm>
            <a:off x="523577" y="1073869"/>
            <a:ext cx="8096845" cy="14288"/>
          </a:xfrm>
          <a:prstGeom prst="roundRect">
            <a:avLst>
              <a:gd name="adj" fmla="val 49998"/>
            </a:avLst>
          </a:prstGeom>
          <a:solidFill>
            <a:srgbClr val="272525">
              <a:alpha val="50000"/>
            </a:srgbClr>
          </a:solidFill>
          <a:ln/>
        </p:spPr>
      </p:sp>
      <p:sp>
        <p:nvSpPr>
          <p:cNvPr id="4" name="Text 2"/>
          <p:cNvSpPr/>
          <p:nvPr/>
        </p:nvSpPr>
        <p:spPr>
          <a:xfrm>
            <a:off x="523577" y="1299418"/>
            <a:ext cx="8096845" cy="235148"/>
          </a:xfrm>
          <a:prstGeom prst="rect">
            <a:avLst/>
          </a:prstGeom>
          <a:noFill/>
          <a:ln/>
        </p:spPr>
        <p:txBody>
          <a:bodyPr wrap="none" lIns="0" tIns="0" rIns="0" bIns="0" rtlCol="0" anchor="t"/>
          <a:lstStyle/>
          <a:p>
            <a:pPr marL="0" indent="0" algn="l">
              <a:lnSpc>
                <a:spcPct val="104000"/>
              </a:lnSpc>
              <a:buNone/>
            </a:pPr>
            <a:r>
              <a:rPr lang="en-US" sz="1450" kern="0" spc="-30" dirty="0">
                <a:solidFill>
                  <a:srgbClr val="008000"/>
                </a:solidFill>
                <a:latin typeface="Source Serif 4 SemiBold" pitchFamily="34" charset="0"/>
                <a:ea typeface="Source Serif 4 SemiBold" pitchFamily="34" charset="-122"/>
                <a:cs typeface="Source Serif 4 SemiBold" pitchFamily="34" charset="-120"/>
              </a:rPr>
              <a:t>The Problem</a:t>
            </a:r>
            <a:endParaRPr lang="en-US" sz="1450" dirty="0"/>
          </a:p>
        </p:txBody>
      </p:sp>
      <p:sp>
        <p:nvSpPr>
          <p:cNvPr id="5" name="Text 3"/>
          <p:cNvSpPr/>
          <p:nvPr/>
        </p:nvSpPr>
        <p:spPr>
          <a:xfrm>
            <a:off x="523577" y="1712565"/>
            <a:ext cx="8096845" cy="806053"/>
          </a:xfrm>
          <a:prstGeom prst="rect">
            <a:avLst/>
          </a:prstGeom>
          <a:noFill/>
          <a:ln/>
        </p:spPr>
        <p:txBody>
          <a:bodyPr wrap="square" lIns="0" tIns="0" rIns="0" bIns="0" rtlCol="0" anchor="t">
            <a:normAutofit/>
          </a:bodyPr>
          <a:lstStyle/>
          <a:p>
            <a:pPr marL="0" indent="0" algn="l">
              <a:lnSpc>
                <a:spcPct val="126000"/>
              </a:lnSpc>
              <a:buNone/>
            </a:pPr>
            <a:r>
              <a:rPr lang="en-US" sz="1000" kern="0" spc="-21" dirty="0">
                <a:solidFill>
                  <a:srgbClr val="36454F"/>
                </a:solidFill>
                <a:latin typeface="Source Sans 3" pitchFamily="34" charset="0"/>
                <a:ea typeface="Source Sans 3" pitchFamily="34" charset="-122"/>
                <a:cs typeface="Source Sans 3" pitchFamily="34" charset="-120"/>
              </a:rPr>
              <a:t>DevOps tasks often require users to work with multiple commands and tools separately for version control, containers, builds, deployment, and system monitoring. Managing these operations through different commands and utilities can make routine tasks slower and less convenient, especially for students learning DevOps concepts. A unified command-line environment can simplify these operations by bringing commonly used DevOps tasks together in one place.</a:t>
            </a:r>
            <a:endParaRPr lang="en-US" sz="1000" dirty="0"/>
          </a:p>
        </p:txBody>
      </p:sp>
      <p:sp>
        <p:nvSpPr>
          <p:cNvPr id="6" name="Text 4"/>
          <p:cNvSpPr/>
          <p:nvPr/>
        </p:nvSpPr>
        <p:spPr>
          <a:xfrm>
            <a:off x="523577" y="2696617"/>
            <a:ext cx="8096845" cy="235148"/>
          </a:xfrm>
          <a:prstGeom prst="rect">
            <a:avLst/>
          </a:prstGeom>
          <a:noFill/>
          <a:ln/>
        </p:spPr>
        <p:txBody>
          <a:bodyPr wrap="none" lIns="0" tIns="0" rIns="0" bIns="0" rtlCol="0" anchor="t"/>
          <a:lstStyle/>
          <a:p>
            <a:pPr marL="0" indent="0" algn="l">
              <a:lnSpc>
                <a:spcPct val="104000"/>
              </a:lnSpc>
              <a:buNone/>
            </a:pPr>
            <a:r>
              <a:rPr lang="en-US" sz="1450" kern="0" spc="-30" dirty="0">
                <a:solidFill>
                  <a:srgbClr val="008000"/>
                </a:solidFill>
                <a:latin typeface="Source Serif 4 SemiBold" pitchFamily="34" charset="0"/>
                <a:ea typeface="Source Serif 4 SemiBold" pitchFamily="34" charset="-122"/>
                <a:cs typeface="Source Serif 4 SemiBold" pitchFamily="34" charset="-120"/>
              </a:rPr>
              <a:t>Key Problems</a:t>
            </a:r>
            <a:endParaRPr lang="en-US" sz="1450" dirty="0"/>
          </a:p>
        </p:txBody>
      </p:sp>
      <p:sp>
        <p:nvSpPr>
          <p:cNvPr id="7" name="Text 5"/>
          <p:cNvSpPr/>
          <p:nvPr/>
        </p:nvSpPr>
        <p:spPr>
          <a:xfrm>
            <a:off x="523577" y="3109764"/>
            <a:ext cx="8096845" cy="1173659"/>
          </a:xfrm>
          <a:prstGeom prst="rect">
            <a:avLst/>
          </a:prstGeom>
          <a:noFill/>
          <a:ln/>
        </p:spPr>
        <p:txBody>
          <a:bodyPr wrap="square" lIns="0" tIns="53300" rIns="0" bIns="0" rtlCol="0" anchor="t">
            <a:normAutofit/>
          </a:bodyPr>
          <a:lstStyle/>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DevOps operations often require multiple separate commands and tools.</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Students need to learn different command syntaxes for different tasks.</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Switching between Git, Docker, build, and system commands can be inconvenient.</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Repeating related commands for common workflows takes extra time.</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There is a need for a simple unified shell environment for learning and practicing DevOps operations.</a:t>
            </a:r>
            <a:endParaRPr lang="en-US" sz="1000" dirty="0"/>
          </a:p>
        </p:txBody>
      </p:sp>
      <p:sp>
        <p:nvSpPr>
          <p:cNvPr id="8" name="Text 6"/>
          <p:cNvSpPr/>
          <p:nvPr/>
        </p:nvSpPr>
        <p:spPr>
          <a:xfrm>
            <a:off x="523577" y="4416921"/>
            <a:ext cx="8554045" cy="201513"/>
          </a:xfrm>
          <a:prstGeom prst="rect">
            <a:avLst/>
          </a:prstGeom>
          <a:noFill/>
          <a:ln/>
        </p:spPr>
        <p:txBody>
          <a:bodyPr wrap="none" lIns="0" tIns="0" rIns="0" bIns="0" rtlCol="0" anchor="t"/>
          <a:lstStyle/>
          <a:p>
            <a:pPr marL="0" indent="0" algn="l">
              <a:lnSpc>
                <a:spcPct val="126000"/>
              </a:lnSpc>
              <a:buNone/>
            </a:pPr>
            <a:r>
              <a:rPr lang="en-US" sz="1000" b="1" kern="0" spc="-21" dirty="0">
                <a:solidFill>
                  <a:srgbClr val="36454F"/>
                </a:solidFill>
                <a:latin typeface="Source Sans 3 Bold" pitchFamily="34" charset="0"/>
                <a:ea typeface="Source Sans 3 Bold" pitchFamily="34" charset="-122"/>
                <a:cs typeface="Source Sans 3 Bold" pitchFamily="34" charset="-120"/>
              </a:rPr>
              <a:t>Users need one simple shell environment to manage and practice common DevOps operations efficiently.</a:t>
            </a:r>
            <a:endParaRPr lang="en-US" sz="1000" dirty="0"/>
          </a:p>
        </p:txBody>
      </p:sp>
      <p:sp>
        <p:nvSpPr>
          <p:cNvPr id="10" name="Rectangle 9">
            <a:extLst>
              <a:ext uri="{FF2B5EF4-FFF2-40B4-BE49-F238E27FC236}">
                <a16:creationId xmlns:a16="http://schemas.microsoft.com/office/drawing/2014/main" id="{95F5AE4B-BFE8-4F2D-7C87-1B6DB7257F3E}"/>
              </a:ext>
            </a:extLst>
          </p:cNvPr>
          <p:cNvSpPr/>
          <p:nvPr/>
        </p:nvSpPr>
        <p:spPr>
          <a:xfrm>
            <a:off x="7807890" y="4577010"/>
            <a:ext cx="1274496" cy="555171"/>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 name="Picture 11">
            <a:extLst>
              <a:ext uri="{FF2B5EF4-FFF2-40B4-BE49-F238E27FC236}">
                <a16:creationId xmlns:a16="http://schemas.microsoft.com/office/drawing/2014/main" id="{192D1BEC-9CF3-BDD3-F5D0-58D1C3E5A0E1}"/>
              </a:ext>
            </a:extLst>
          </p:cNvPr>
          <p:cNvPicPr>
            <a:picLocks noChangeAspect="1"/>
          </p:cNvPicPr>
          <p:nvPr/>
        </p:nvPicPr>
        <p:blipFill>
          <a:blip r:embed="rId3"/>
          <a:stretch>
            <a:fillRect/>
          </a:stretch>
        </p:blipFill>
        <p:spPr>
          <a:xfrm>
            <a:off x="7952831" y="4621570"/>
            <a:ext cx="984613" cy="4660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23577" y="411435"/>
            <a:ext cx="8096845" cy="391864"/>
          </a:xfrm>
          <a:prstGeom prst="rect">
            <a:avLst/>
          </a:prstGeom>
          <a:noFill/>
          <a:ln/>
        </p:spPr>
        <p:txBody>
          <a:bodyPr wrap="none" lIns="0" tIns="0" rIns="0" bIns="0" rtlCol="0" anchor="t"/>
          <a:lstStyle/>
          <a:p>
            <a:pPr marL="0" indent="0" algn="l">
              <a:lnSpc>
                <a:spcPct val="104000"/>
              </a:lnSpc>
              <a:buNone/>
            </a:pPr>
            <a:r>
              <a:rPr lang="en-US" sz="2450" kern="0" spc="-49" dirty="0">
                <a:solidFill>
                  <a:srgbClr val="000080"/>
                </a:solidFill>
                <a:latin typeface="Source Serif 4 SemiBold" pitchFamily="34" charset="0"/>
                <a:ea typeface="Source Serif 4 SemiBold" pitchFamily="34" charset="-122"/>
                <a:cs typeface="Source Serif 4 SemiBold" pitchFamily="34" charset="-120"/>
              </a:rPr>
              <a:t>Existing System</a:t>
            </a:r>
            <a:endParaRPr lang="en-US" sz="2450" dirty="0"/>
          </a:p>
        </p:txBody>
      </p:sp>
      <p:sp>
        <p:nvSpPr>
          <p:cNvPr id="3" name="Shape 1"/>
          <p:cNvSpPr/>
          <p:nvPr/>
        </p:nvSpPr>
        <p:spPr>
          <a:xfrm>
            <a:off x="523577" y="1073869"/>
            <a:ext cx="8096845" cy="14288"/>
          </a:xfrm>
          <a:prstGeom prst="roundRect">
            <a:avLst>
              <a:gd name="adj" fmla="val 49998"/>
            </a:avLst>
          </a:prstGeom>
          <a:solidFill>
            <a:srgbClr val="272525">
              <a:alpha val="50000"/>
            </a:srgbClr>
          </a:solidFill>
          <a:ln/>
        </p:spPr>
      </p:sp>
      <p:sp>
        <p:nvSpPr>
          <p:cNvPr id="4" name="Text 2"/>
          <p:cNvSpPr/>
          <p:nvPr/>
        </p:nvSpPr>
        <p:spPr>
          <a:xfrm>
            <a:off x="523577" y="1299418"/>
            <a:ext cx="8096845" cy="235148"/>
          </a:xfrm>
          <a:prstGeom prst="rect">
            <a:avLst/>
          </a:prstGeom>
          <a:noFill/>
          <a:ln/>
        </p:spPr>
        <p:txBody>
          <a:bodyPr wrap="none" lIns="0" tIns="0" rIns="0" bIns="0" rtlCol="0" anchor="t"/>
          <a:lstStyle/>
          <a:p>
            <a:pPr marL="0" indent="0" algn="l">
              <a:lnSpc>
                <a:spcPct val="104000"/>
              </a:lnSpc>
              <a:buNone/>
            </a:pPr>
            <a:r>
              <a:rPr lang="en-US" sz="1450" kern="0" spc="-30" dirty="0">
                <a:solidFill>
                  <a:srgbClr val="008000"/>
                </a:solidFill>
                <a:latin typeface="Source Serif 4 SemiBold" pitchFamily="34" charset="0"/>
                <a:ea typeface="Source Serif 4 SemiBold" pitchFamily="34" charset="-122"/>
                <a:cs typeface="Source Serif 4 SemiBold" pitchFamily="34" charset="-120"/>
              </a:rPr>
              <a:t>Current Approach</a:t>
            </a:r>
            <a:endParaRPr lang="en-US" sz="1450" dirty="0"/>
          </a:p>
        </p:txBody>
      </p:sp>
      <p:sp>
        <p:nvSpPr>
          <p:cNvPr id="5" name="Text 3"/>
          <p:cNvSpPr/>
          <p:nvPr/>
        </p:nvSpPr>
        <p:spPr>
          <a:xfrm>
            <a:off x="523577" y="1712565"/>
            <a:ext cx="8096845" cy="604540"/>
          </a:xfrm>
          <a:prstGeom prst="rect">
            <a:avLst/>
          </a:prstGeom>
          <a:noFill/>
          <a:ln/>
        </p:spPr>
        <p:txBody>
          <a:bodyPr wrap="square" lIns="0" tIns="0" rIns="0" bIns="0" rtlCol="0" anchor="t">
            <a:normAutofit/>
          </a:bodyPr>
          <a:lstStyle/>
          <a:p>
            <a:pPr marL="0" indent="0" algn="l">
              <a:lnSpc>
                <a:spcPct val="126000"/>
              </a:lnSpc>
              <a:buNone/>
            </a:pPr>
            <a:r>
              <a:rPr lang="en-US" sz="1000" kern="0" spc="-21" dirty="0">
                <a:solidFill>
                  <a:srgbClr val="36454F"/>
                </a:solidFill>
                <a:latin typeface="Source Sans 3" pitchFamily="34" charset="0"/>
                <a:ea typeface="Source Sans 3" pitchFamily="34" charset="-122"/>
                <a:cs typeface="Source Sans 3" pitchFamily="34" charset="-120"/>
              </a:rPr>
              <a:t>Currently, DevOps tasks are performed using separate command-line tools and utilities such as Git, Docker, build tools, deployment commands, and system monitoring commands. Each operation is usually handled independently, requiring users to remember and execute different commands for different tasks.</a:t>
            </a:r>
            <a:endParaRPr lang="en-US" sz="1000" dirty="0"/>
          </a:p>
        </p:txBody>
      </p:sp>
      <p:sp>
        <p:nvSpPr>
          <p:cNvPr id="6" name="Text 4"/>
          <p:cNvSpPr/>
          <p:nvPr/>
        </p:nvSpPr>
        <p:spPr>
          <a:xfrm>
            <a:off x="523577" y="2495104"/>
            <a:ext cx="8096845" cy="235148"/>
          </a:xfrm>
          <a:prstGeom prst="rect">
            <a:avLst/>
          </a:prstGeom>
          <a:noFill/>
          <a:ln/>
        </p:spPr>
        <p:txBody>
          <a:bodyPr wrap="none" lIns="0" tIns="0" rIns="0" bIns="0" rtlCol="0" anchor="t"/>
          <a:lstStyle/>
          <a:p>
            <a:pPr marL="0" indent="0" algn="l">
              <a:lnSpc>
                <a:spcPct val="104000"/>
              </a:lnSpc>
              <a:buNone/>
            </a:pPr>
            <a:r>
              <a:rPr lang="en-US" sz="1450" kern="0" spc="-30" dirty="0">
                <a:solidFill>
                  <a:srgbClr val="008000"/>
                </a:solidFill>
                <a:latin typeface="Source Serif 4 SemiBold" pitchFamily="34" charset="0"/>
                <a:ea typeface="Source Serif 4 SemiBold" pitchFamily="34" charset="-122"/>
                <a:cs typeface="Source Serif 4 SemiBold" pitchFamily="34" charset="-120"/>
              </a:rPr>
              <a:t>How It Works Today</a:t>
            </a:r>
            <a:endParaRPr lang="en-US" sz="1450" dirty="0"/>
          </a:p>
        </p:txBody>
      </p:sp>
      <p:sp>
        <p:nvSpPr>
          <p:cNvPr id="7" name="Text 5"/>
          <p:cNvSpPr/>
          <p:nvPr/>
        </p:nvSpPr>
        <p:spPr>
          <a:xfrm>
            <a:off x="523577" y="2908250"/>
            <a:ext cx="8096845" cy="1173659"/>
          </a:xfrm>
          <a:prstGeom prst="rect">
            <a:avLst/>
          </a:prstGeom>
          <a:noFill/>
          <a:ln/>
        </p:spPr>
        <p:txBody>
          <a:bodyPr wrap="square" lIns="0" tIns="53300" rIns="0" bIns="0" rtlCol="0" anchor="t">
            <a:normAutofit/>
          </a:bodyPr>
          <a:lstStyle/>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Users execute Git, Docker, build, and system commands separately.</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Different DevOps tasks require different command syntax and tools.</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Common workflows involve running multiple commands one after another.</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Users need to switch between different tools for different operations.</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There is no single shell interface that combines these common DevOps tasks.</a:t>
            </a:r>
            <a:endParaRPr lang="en-US" sz="1000" dirty="0"/>
          </a:p>
        </p:txBody>
      </p:sp>
      <p:sp>
        <p:nvSpPr>
          <p:cNvPr id="8" name="Text 6"/>
          <p:cNvSpPr/>
          <p:nvPr/>
        </p:nvSpPr>
        <p:spPr>
          <a:xfrm>
            <a:off x="523577" y="4215408"/>
            <a:ext cx="8096845" cy="403027"/>
          </a:xfrm>
          <a:prstGeom prst="rect">
            <a:avLst/>
          </a:prstGeom>
          <a:noFill/>
          <a:ln/>
        </p:spPr>
        <p:txBody>
          <a:bodyPr wrap="square" lIns="0" tIns="0" rIns="0" bIns="0" rtlCol="0" anchor="t">
            <a:normAutofit/>
          </a:bodyPr>
          <a:lstStyle/>
          <a:p>
            <a:pPr marL="0" indent="0" algn="l">
              <a:lnSpc>
                <a:spcPct val="126000"/>
              </a:lnSpc>
              <a:buNone/>
            </a:pPr>
            <a:r>
              <a:rPr lang="en-US" sz="1000" b="1" kern="0" spc="-21" dirty="0">
                <a:solidFill>
                  <a:srgbClr val="36454F"/>
                </a:solidFill>
                <a:latin typeface="Source Sans 3 Bold" pitchFamily="34" charset="0"/>
                <a:ea typeface="Source Sans 3 Bold" pitchFamily="34" charset="-122"/>
                <a:cs typeface="Source Sans 3 Bold" pitchFamily="34" charset="-120"/>
              </a:rPr>
              <a:t>The existing approach works, but managing multiple DevOps tools and commands separately can make workflows more complex and time-consuming.</a:t>
            </a:r>
            <a:endParaRPr lang="en-US" sz="1000" dirty="0"/>
          </a:p>
        </p:txBody>
      </p:sp>
      <p:sp>
        <p:nvSpPr>
          <p:cNvPr id="10" name="Rectangle 9">
            <a:extLst>
              <a:ext uri="{FF2B5EF4-FFF2-40B4-BE49-F238E27FC236}">
                <a16:creationId xmlns:a16="http://schemas.microsoft.com/office/drawing/2014/main" id="{C892F0E3-8873-60C4-20D2-6E6D3599BD22}"/>
              </a:ext>
            </a:extLst>
          </p:cNvPr>
          <p:cNvSpPr/>
          <p:nvPr/>
        </p:nvSpPr>
        <p:spPr>
          <a:xfrm>
            <a:off x="7807890" y="4577010"/>
            <a:ext cx="1274496" cy="555171"/>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 name="Picture 11">
            <a:extLst>
              <a:ext uri="{FF2B5EF4-FFF2-40B4-BE49-F238E27FC236}">
                <a16:creationId xmlns:a16="http://schemas.microsoft.com/office/drawing/2014/main" id="{F053F508-CD97-776E-03E1-9B8391C4C932}"/>
              </a:ext>
            </a:extLst>
          </p:cNvPr>
          <p:cNvPicPr>
            <a:picLocks noChangeAspect="1"/>
          </p:cNvPicPr>
          <p:nvPr/>
        </p:nvPicPr>
        <p:blipFill>
          <a:blip r:embed="rId3"/>
          <a:stretch>
            <a:fillRect/>
          </a:stretch>
        </p:blipFill>
        <p:spPr>
          <a:xfrm>
            <a:off x="7952831" y="4621570"/>
            <a:ext cx="984613" cy="4660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3577" y="411435"/>
            <a:ext cx="8096845" cy="426244"/>
          </a:xfrm>
          <a:prstGeom prst="rect">
            <a:avLst/>
          </a:prstGeom>
          <a:noFill/>
          <a:ln/>
        </p:spPr>
        <p:txBody>
          <a:bodyPr wrap="none" lIns="0" tIns="0" rIns="0" bIns="0" rtlCol="0" anchor="t"/>
          <a:lstStyle/>
          <a:p>
            <a:pPr marL="0" indent="0" algn="l">
              <a:lnSpc>
                <a:spcPct val="104000"/>
              </a:lnSpc>
              <a:buNone/>
            </a:pPr>
            <a:r>
              <a:rPr lang="en-US" sz="2650" kern="0" spc="-54" dirty="0">
                <a:solidFill>
                  <a:srgbClr val="000080"/>
                </a:solidFill>
                <a:latin typeface="Source Serif 4 SemiBold" pitchFamily="34" charset="0"/>
                <a:ea typeface="Source Serif 4 SemiBold" pitchFamily="34" charset="-122"/>
                <a:cs typeface="Source Serif 4 SemiBold" pitchFamily="34" charset="-120"/>
              </a:rPr>
              <a:t>Drawbacks of Existing System</a:t>
            </a:r>
            <a:endParaRPr lang="en-US" sz="2650" dirty="0"/>
          </a:p>
        </p:txBody>
      </p:sp>
      <p:sp>
        <p:nvSpPr>
          <p:cNvPr id="3" name="Shape 1"/>
          <p:cNvSpPr/>
          <p:nvPr/>
        </p:nvSpPr>
        <p:spPr>
          <a:xfrm>
            <a:off x="523577" y="1084436"/>
            <a:ext cx="8096845" cy="19050"/>
          </a:xfrm>
          <a:prstGeom prst="roundRect">
            <a:avLst>
              <a:gd name="adj" fmla="val 50000"/>
            </a:avLst>
          </a:prstGeom>
          <a:solidFill>
            <a:srgbClr val="272525">
              <a:alpha val="50000"/>
            </a:srgbClr>
          </a:solidFill>
          <a:ln/>
        </p:spPr>
      </p:sp>
      <p:sp>
        <p:nvSpPr>
          <p:cNvPr id="4" name="Text 2"/>
          <p:cNvSpPr/>
          <p:nvPr/>
        </p:nvSpPr>
        <p:spPr>
          <a:xfrm>
            <a:off x="523577" y="1350243"/>
            <a:ext cx="8096845" cy="255761"/>
          </a:xfrm>
          <a:prstGeom prst="rect">
            <a:avLst/>
          </a:prstGeom>
          <a:noFill/>
          <a:ln/>
        </p:spPr>
        <p:txBody>
          <a:bodyPr wrap="none" lIns="0" tIns="0" rIns="0" bIns="0" rtlCol="0" anchor="t"/>
          <a:lstStyle/>
          <a:p>
            <a:pPr marL="0" indent="0" algn="l">
              <a:lnSpc>
                <a:spcPct val="104000"/>
              </a:lnSpc>
              <a:buNone/>
            </a:pPr>
            <a:r>
              <a:rPr lang="en-US" sz="1600" kern="0" spc="-32" dirty="0">
                <a:solidFill>
                  <a:srgbClr val="008000"/>
                </a:solidFill>
                <a:latin typeface="Source Serif 4 SemiBold" pitchFamily="34" charset="0"/>
                <a:ea typeface="Source Serif 4 SemiBold" pitchFamily="34" charset="-122"/>
                <a:cs typeface="Source Serif 4 SemiBold" pitchFamily="34" charset="-120"/>
              </a:rPr>
              <a:t>Current Limitations</a:t>
            </a:r>
            <a:endParaRPr lang="en-US" sz="1600" dirty="0"/>
          </a:p>
        </p:txBody>
      </p:sp>
      <p:sp>
        <p:nvSpPr>
          <p:cNvPr id="5" name="Text 3"/>
          <p:cNvSpPr/>
          <p:nvPr/>
        </p:nvSpPr>
        <p:spPr>
          <a:xfrm>
            <a:off x="523577" y="1816596"/>
            <a:ext cx="8096845" cy="1337965"/>
          </a:xfrm>
          <a:prstGeom prst="rect">
            <a:avLst/>
          </a:prstGeom>
          <a:noFill/>
          <a:ln/>
        </p:spPr>
        <p:txBody>
          <a:bodyPr wrap="square" lIns="0" tIns="57975" rIns="0" bIns="0" rtlCol="0" anchor="t">
            <a:normAutofit/>
          </a:bodyPr>
          <a:lstStyle/>
          <a:p>
            <a:pPr marL="223520" indent="-223520" algn="l">
              <a:lnSpc>
                <a:spcPct val="131000"/>
              </a:lnSpc>
              <a:buSzPct val="100000"/>
              <a:buChar char="•"/>
            </a:pPr>
            <a:r>
              <a:rPr lang="en-US" sz="1100" kern="0" spc="-23" dirty="0">
                <a:solidFill>
                  <a:srgbClr val="36454F"/>
                </a:solidFill>
                <a:latin typeface="Source Sans 3" pitchFamily="34" charset="0"/>
                <a:ea typeface="Source Sans 3" pitchFamily="34" charset="-122"/>
                <a:cs typeface="Source Sans 3" pitchFamily="34" charset="-120"/>
              </a:rPr>
              <a:t>DevOps operations are performed using separate tools and commands.</a:t>
            </a:r>
            <a:endParaRPr lang="en-US" sz="1100" dirty="0"/>
          </a:p>
          <a:p>
            <a:pPr marL="223520" indent="-223520" algn="l">
              <a:lnSpc>
                <a:spcPct val="131000"/>
              </a:lnSpc>
              <a:buSzPct val="100000"/>
              <a:buChar char="•"/>
            </a:pPr>
            <a:r>
              <a:rPr lang="en-US" sz="1100" kern="0" spc="-23" dirty="0">
                <a:solidFill>
                  <a:srgbClr val="36454F"/>
                </a:solidFill>
                <a:latin typeface="Source Sans 3" pitchFamily="34" charset="0"/>
                <a:ea typeface="Source Sans 3" pitchFamily="34" charset="-122"/>
                <a:cs typeface="Source Sans 3" pitchFamily="34" charset="-120"/>
              </a:rPr>
              <a:t>Users need to switch between Git, Docker, build, and system utilities.</a:t>
            </a:r>
            <a:endParaRPr lang="en-US" sz="1100" dirty="0"/>
          </a:p>
          <a:p>
            <a:pPr marL="223520" indent="-223520" algn="l">
              <a:lnSpc>
                <a:spcPct val="131000"/>
              </a:lnSpc>
              <a:buSzPct val="100000"/>
              <a:buChar char="•"/>
            </a:pPr>
            <a:r>
              <a:rPr lang="en-US" sz="1100" kern="0" spc="-23" dirty="0">
                <a:solidFill>
                  <a:srgbClr val="36454F"/>
                </a:solidFill>
                <a:latin typeface="Source Sans 3" pitchFamily="34" charset="0"/>
                <a:ea typeface="Source Sans 3" pitchFamily="34" charset="-122"/>
                <a:cs typeface="Source Sans 3" pitchFamily="34" charset="-120"/>
              </a:rPr>
              <a:t>Executing multiple commands for a single workflow can be time-consuming.</a:t>
            </a:r>
            <a:endParaRPr lang="en-US" sz="1100" dirty="0"/>
          </a:p>
          <a:p>
            <a:pPr marL="223520" indent="-223520" algn="l">
              <a:lnSpc>
                <a:spcPct val="131000"/>
              </a:lnSpc>
              <a:buSzPct val="100000"/>
              <a:buChar char="•"/>
            </a:pPr>
            <a:r>
              <a:rPr lang="en-US" sz="1100" kern="0" spc="-23" dirty="0">
                <a:solidFill>
                  <a:srgbClr val="36454F"/>
                </a:solidFill>
                <a:latin typeface="Source Sans 3" pitchFamily="34" charset="0"/>
                <a:ea typeface="Source Sans 3" pitchFamily="34" charset="-122"/>
                <a:cs typeface="Source Sans 3" pitchFamily="34" charset="-120"/>
              </a:rPr>
              <a:t>Different tools have different command structures and usage methods.</a:t>
            </a:r>
            <a:endParaRPr lang="en-US" sz="1100" dirty="0"/>
          </a:p>
          <a:p>
            <a:pPr marL="223520" indent="-223520" algn="l">
              <a:lnSpc>
                <a:spcPct val="131000"/>
              </a:lnSpc>
              <a:buSzPct val="100000"/>
              <a:buChar char="•"/>
            </a:pPr>
            <a:r>
              <a:rPr lang="en-US" sz="1100" kern="0" spc="-23" dirty="0">
                <a:solidFill>
                  <a:srgbClr val="36454F"/>
                </a:solidFill>
                <a:latin typeface="Source Sans 3" pitchFamily="34" charset="0"/>
                <a:ea typeface="Source Sans 3" pitchFamily="34" charset="-122"/>
                <a:cs typeface="Source Sans 3" pitchFamily="34" charset="-120"/>
              </a:rPr>
              <a:t>There is no single shell environment for commonly used DevOps operations.</a:t>
            </a:r>
            <a:endParaRPr lang="en-US" sz="1100" dirty="0"/>
          </a:p>
        </p:txBody>
      </p:sp>
      <p:sp>
        <p:nvSpPr>
          <p:cNvPr id="6" name="Text 4"/>
          <p:cNvSpPr/>
          <p:nvPr/>
        </p:nvSpPr>
        <p:spPr>
          <a:xfrm>
            <a:off x="523577" y="3365153"/>
            <a:ext cx="8096845" cy="255761"/>
          </a:xfrm>
          <a:prstGeom prst="rect">
            <a:avLst/>
          </a:prstGeom>
          <a:noFill/>
          <a:ln/>
        </p:spPr>
        <p:txBody>
          <a:bodyPr wrap="none" lIns="0" tIns="0" rIns="0" bIns="0" rtlCol="0" anchor="t"/>
          <a:lstStyle/>
          <a:p>
            <a:pPr marL="0" indent="0" algn="l">
              <a:lnSpc>
                <a:spcPct val="104000"/>
              </a:lnSpc>
              <a:buNone/>
            </a:pPr>
            <a:r>
              <a:rPr lang="en-US" sz="1600" kern="0" spc="-32" dirty="0">
                <a:solidFill>
                  <a:srgbClr val="008000"/>
                </a:solidFill>
                <a:latin typeface="Source Serif 4 SemiBold" pitchFamily="34" charset="0"/>
                <a:ea typeface="Source Serif 4 SemiBold" pitchFamily="34" charset="-122"/>
                <a:cs typeface="Source Serif 4 SemiBold" pitchFamily="34" charset="-120"/>
              </a:rPr>
              <a:t>Impact on Workflow</a:t>
            </a:r>
            <a:endParaRPr lang="en-US" sz="1600" dirty="0"/>
          </a:p>
        </p:txBody>
      </p:sp>
      <p:sp>
        <p:nvSpPr>
          <p:cNvPr id="7" name="Text 5"/>
          <p:cNvSpPr/>
          <p:nvPr/>
        </p:nvSpPr>
        <p:spPr>
          <a:xfrm>
            <a:off x="523577" y="3831506"/>
            <a:ext cx="8096845" cy="842814"/>
          </a:xfrm>
          <a:prstGeom prst="rect">
            <a:avLst/>
          </a:prstGeom>
          <a:noFill/>
          <a:ln/>
        </p:spPr>
        <p:txBody>
          <a:bodyPr wrap="square" lIns="0" tIns="0" rIns="0" bIns="0" rtlCol="0" anchor="t">
            <a:normAutofit/>
          </a:bodyPr>
          <a:lstStyle/>
          <a:p>
            <a:pPr marL="0" indent="0" algn="l">
              <a:lnSpc>
                <a:spcPct val="131000"/>
              </a:lnSpc>
              <a:spcAft>
                <a:spcPts val="1200"/>
              </a:spcAft>
              <a:buNone/>
            </a:pPr>
            <a:r>
              <a:rPr lang="en-US" sz="1100" kern="0" spc="-23" dirty="0">
                <a:solidFill>
                  <a:srgbClr val="36454F"/>
                </a:solidFill>
                <a:latin typeface="Source Sans 3" pitchFamily="34" charset="0"/>
                <a:ea typeface="Source Sans 3" pitchFamily="34" charset="-122"/>
                <a:cs typeface="Source Sans 3" pitchFamily="34" charset="-120"/>
              </a:rPr>
              <a:t>This fragmented approach can make DevOps workflows less convenient and increase the effort required to perform routine development and operations tasks. Users must manage multiple tools instead of working through one unified command-line environment.</a:t>
            </a:r>
            <a:endParaRPr lang="en-US" sz="1100" dirty="0"/>
          </a:p>
          <a:p>
            <a:pPr marL="0" indent="0" algn="l">
              <a:lnSpc>
                <a:spcPct val="131000"/>
              </a:lnSpc>
              <a:buNone/>
            </a:pPr>
            <a:r>
              <a:rPr lang="en-US" sz="1100" b="1" kern="0" spc="-23" dirty="0">
                <a:solidFill>
                  <a:srgbClr val="36454F"/>
                </a:solidFill>
                <a:latin typeface="Source Sans 3 Bold" pitchFamily="34" charset="0"/>
                <a:ea typeface="Source Sans 3 Bold" pitchFamily="34" charset="-122"/>
                <a:cs typeface="Source Sans 3 Bold" pitchFamily="34" charset="-120"/>
              </a:rPr>
              <a:t>A unified DevOps shell can make common operations more organized, efficient, and easier to manage.</a:t>
            </a:r>
            <a:endParaRPr lang="en-US" sz="1100" dirty="0"/>
          </a:p>
        </p:txBody>
      </p:sp>
      <p:sp>
        <p:nvSpPr>
          <p:cNvPr id="9" name="Rectangle 8">
            <a:extLst>
              <a:ext uri="{FF2B5EF4-FFF2-40B4-BE49-F238E27FC236}">
                <a16:creationId xmlns:a16="http://schemas.microsoft.com/office/drawing/2014/main" id="{F205D032-5233-BDF1-0B31-A6D37418D2CC}"/>
              </a:ext>
            </a:extLst>
          </p:cNvPr>
          <p:cNvSpPr/>
          <p:nvPr/>
        </p:nvSpPr>
        <p:spPr>
          <a:xfrm>
            <a:off x="7807890" y="4577010"/>
            <a:ext cx="1274496" cy="555171"/>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1" name="Picture 10">
            <a:extLst>
              <a:ext uri="{FF2B5EF4-FFF2-40B4-BE49-F238E27FC236}">
                <a16:creationId xmlns:a16="http://schemas.microsoft.com/office/drawing/2014/main" id="{8898D2C5-3F8A-90C5-60E9-928F39672645}"/>
              </a:ext>
            </a:extLst>
          </p:cNvPr>
          <p:cNvPicPr>
            <a:picLocks noChangeAspect="1"/>
          </p:cNvPicPr>
          <p:nvPr/>
        </p:nvPicPr>
        <p:blipFill>
          <a:blip r:embed="rId3"/>
          <a:stretch>
            <a:fillRect/>
          </a:stretch>
        </p:blipFill>
        <p:spPr>
          <a:xfrm>
            <a:off x="7952831" y="4621570"/>
            <a:ext cx="984613" cy="4660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23577" y="411435"/>
            <a:ext cx="8096845" cy="391864"/>
          </a:xfrm>
          <a:prstGeom prst="rect">
            <a:avLst/>
          </a:prstGeom>
          <a:noFill/>
          <a:ln/>
        </p:spPr>
        <p:txBody>
          <a:bodyPr wrap="none" lIns="0" tIns="0" rIns="0" bIns="0" rtlCol="0" anchor="t"/>
          <a:lstStyle/>
          <a:p>
            <a:pPr marL="0" indent="0" algn="l">
              <a:lnSpc>
                <a:spcPct val="104000"/>
              </a:lnSpc>
              <a:buNone/>
            </a:pPr>
            <a:r>
              <a:rPr lang="en-US" sz="2450" kern="0" spc="-49" dirty="0">
                <a:solidFill>
                  <a:srgbClr val="000080"/>
                </a:solidFill>
                <a:latin typeface="Source Serif 4 SemiBold" pitchFamily="34" charset="0"/>
                <a:ea typeface="Source Serif 4 SemiBold" pitchFamily="34" charset="-122"/>
                <a:cs typeface="Source Serif 4 SemiBold" pitchFamily="34" charset="-120"/>
              </a:rPr>
              <a:t>Proposed System</a:t>
            </a:r>
            <a:endParaRPr lang="en-US" sz="2450" dirty="0"/>
          </a:p>
        </p:txBody>
      </p:sp>
      <p:sp>
        <p:nvSpPr>
          <p:cNvPr id="3" name="Shape 1"/>
          <p:cNvSpPr/>
          <p:nvPr/>
        </p:nvSpPr>
        <p:spPr>
          <a:xfrm>
            <a:off x="523577" y="1073869"/>
            <a:ext cx="8096845" cy="14288"/>
          </a:xfrm>
          <a:prstGeom prst="roundRect">
            <a:avLst>
              <a:gd name="adj" fmla="val 49998"/>
            </a:avLst>
          </a:prstGeom>
          <a:solidFill>
            <a:srgbClr val="272525">
              <a:alpha val="50000"/>
            </a:srgbClr>
          </a:solidFill>
          <a:ln/>
        </p:spPr>
      </p:sp>
      <p:sp>
        <p:nvSpPr>
          <p:cNvPr id="4" name="Text 2"/>
          <p:cNvSpPr/>
          <p:nvPr/>
        </p:nvSpPr>
        <p:spPr>
          <a:xfrm>
            <a:off x="523577" y="1299418"/>
            <a:ext cx="8096845" cy="235148"/>
          </a:xfrm>
          <a:prstGeom prst="rect">
            <a:avLst/>
          </a:prstGeom>
          <a:noFill/>
          <a:ln/>
        </p:spPr>
        <p:txBody>
          <a:bodyPr wrap="none" lIns="0" tIns="0" rIns="0" bIns="0" rtlCol="0" anchor="t"/>
          <a:lstStyle/>
          <a:p>
            <a:pPr marL="0" indent="0" algn="l">
              <a:lnSpc>
                <a:spcPct val="104000"/>
              </a:lnSpc>
              <a:buNone/>
            </a:pPr>
            <a:r>
              <a:rPr lang="en-US" sz="1450" kern="0" spc="-30" dirty="0">
                <a:solidFill>
                  <a:srgbClr val="008000"/>
                </a:solidFill>
                <a:latin typeface="Source Serif 4 SemiBold" pitchFamily="34" charset="0"/>
                <a:ea typeface="Source Serif 4 SemiBold" pitchFamily="34" charset="-122"/>
                <a:cs typeface="Source Serif 4 SemiBold" pitchFamily="34" charset="-120"/>
              </a:rPr>
              <a:t>Our Solution</a:t>
            </a:r>
            <a:endParaRPr lang="en-US" sz="1450" dirty="0"/>
          </a:p>
        </p:txBody>
      </p:sp>
      <p:sp>
        <p:nvSpPr>
          <p:cNvPr id="5" name="Text 3"/>
          <p:cNvSpPr/>
          <p:nvPr/>
        </p:nvSpPr>
        <p:spPr>
          <a:xfrm>
            <a:off x="523577" y="1712565"/>
            <a:ext cx="8096845" cy="403027"/>
          </a:xfrm>
          <a:prstGeom prst="rect">
            <a:avLst/>
          </a:prstGeom>
          <a:noFill/>
          <a:ln/>
        </p:spPr>
        <p:txBody>
          <a:bodyPr wrap="square" lIns="0" tIns="0" rIns="0" bIns="0" rtlCol="0" anchor="t">
            <a:normAutofit/>
          </a:bodyPr>
          <a:lstStyle/>
          <a:p>
            <a:pPr marL="0" indent="0" algn="l">
              <a:lnSpc>
                <a:spcPct val="126000"/>
              </a:lnSpc>
              <a:buNone/>
            </a:pPr>
            <a:r>
              <a:rPr lang="en-US" sz="1000" kern="0" spc="-21" dirty="0">
                <a:solidFill>
                  <a:srgbClr val="36454F"/>
                </a:solidFill>
                <a:latin typeface="Source Sans 3" pitchFamily="34" charset="0"/>
                <a:ea typeface="Source Sans 3" pitchFamily="34" charset="-122"/>
                <a:cs typeface="Source Sans 3" pitchFamily="34" charset="-120"/>
              </a:rPr>
              <a:t>The DevOps Mini Shell brings commonly used DevOps operations into one unified command-line environment. Instead of using separate tools and commands for different tasks, users can access Git, Docker, build, deployment, and system monitoring operations through a single shell interface.</a:t>
            </a:r>
            <a:endParaRPr lang="en-US" sz="1000" dirty="0"/>
          </a:p>
        </p:txBody>
      </p:sp>
      <p:sp>
        <p:nvSpPr>
          <p:cNvPr id="6" name="Text 4"/>
          <p:cNvSpPr/>
          <p:nvPr/>
        </p:nvSpPr>
        <p:spPr>
          <a:xfrm>
            <a:off x="523577" y="2293590"/>
            <a:ext cx="8096845" cy="235148"/>
          </a:xfrm>
          <a:prstGeom prst="rect">
            <a:avLst/>
          </a:prstGeom>
          <a:noFill/>
          <a:ln/>
        </p:spPr>
        <p:txBody>
          <a:bodyPr wrap="none" lIns="0" tIns="0" rIns="0" bIns="0" rtlCol="0" anchor="t"/>
          <a:lstStyle/>
          <a:p>
            <a:pPr marL="0" indent="0" algn="l">
              <a:lnSpc>
                <a:spcPct val="104000"/>
              </a:lnSpc>
              <a:buNone/>
            </a:pPr>
            <a:r>
              <a:rPr lang="en-US" sz="1450" kern="0" spc="-30" dirty="0">
                <a:solidFill>
                  <a:srgbClr val="008000"/>
                </a:solidFill>
                <a:latin typeface="Source Serif 4 SemiBold" pitchFamily="34" charset="0"/>
                <a:ea typeface="Source Serif 4 SemiBold" pitchFamily="34" charset="-122"/>
                <a:cs typeface="Source Serif 4 SemiBold" pitchFamily="34" charset="-120"/>
              </a:rPr>
              <a:t>What the Mini Shell Provides</a:t>
            </a:r>
            <a:endParaRPr lang="en-US" sz="1450" dirty="0"/>
          </a:p>
        </p:txBody>
      </p:sp>
      <p:sp>
        <p:nvSpPr>
          <p:cNvPr id="7" name="Text 5"/>
          <p:cNvSpPr/>
          <p:nvPr/>
        </p:nvSpPr>
        <p:spPr>
          <a:xfrm>
            <a:off x="523577" y="2706737"/>
            <a:ext cx="8096845" cy="1173659"/>
          </a:xfrm>
          <a:prstGeom prst="rect">
            <a:avLst/>
          </a:prstGeom>
          <a:noFill/>
          <a:ln/>
        </p:spPr>
        <p:txBody>
          <a:bodyPr wrap="square" lIns="0" tIns="53300" rIns="0" bIns="0" rtlCol="0" anchor="t">
            <a:normAutofit/>
          </a:bodyPr>
          <a:lstStyle/>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Brings common DevOps commands together in one shell environment.</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Allows users to perform Git and version control operations.</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Supports Docker and container-related operations.</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Provides build and deployment command automation.</a:t>
            </a:r>
            <a:endParaRPr lang="en-US" sz="1000" dirty="0"/>
          </a:p>
          <a:p>
            <a:pPr marL="203200" indent="-203200" algn="l">
              <a:lnSpc>
                <a:spcPct val="126000"/>
              </a:lnSpc>
              <a:buSzPct val="100000"/>
              <a:buChar char="•"/>
            </a:pPr>
            <a:r>
              <a:rPr lang="en-US" sz="1000" kern="0" spc="-21" dirty="0">
                <a:solidFill>
                  <a:srgbClr val="36454F"/>
                </a:solidFill>
                <a:latin typeface="Source Sans 3" pitchFamily="34" charset="0"/>
                <a:ea typeface="Source Sans 3" pitchFamily="34" charset="-122"/>
                <a:cs typeface="Source Sans 3" pitchFamily="34" charset="-120"/>
              </a:rPr>
              <a:t>Includes process and system monitoring capabilities.</a:t>
            </a:r>
            <a:endParaRPr lang="en-US" sz="1000" dirty="0"/>
          </a:p>
        </p:txBody>
      </p:sp>
      <p:sp>
        <p:nvSpPr>
          <p:cNvPr id="8" name="Text 6"/>
          <p:cNvSpPr/>
          <p:nvPr/>
        </p:nvSpPr>
        <p:spPr>
          <a:xfrm>
            <a:off x="523577" y="4058394"/>
            <a:ext cx="8096845" cy="235148"/>
          </a:xfrm>
          <a:prstGeom prst="rect">
            <a:avLst/>
          </a:prstGeom>
          <a:noFill/>
          <a:ln/>
        </p:spPr>
        <p:txBody>
          <a:bodyPr wrap="none" lIns="0" tIns="0" rIns="0" bIns="0" rtlCol="0" anchor="t"/>
          <a:lstStyle/>
          <a:p>
            <a:pPr marL="0" indent="0" algn="l">
              <a:lnSpc>
                <a:spcPct val="104000"/>
              </a:lnSpc>
              <a:buNone/>
            </a:pPr>
            <a:r>
              <a:rPr lang="en-US" sz="1450" kern="0" spc="-30" dirty="0">
                <a:solidFill>
                  <a:srgbClr val="008000"/>
                </a:solidFill>
                <a:latin typeface="Source Serif 4 SemiBold" pitchFamily="34" charset="0"/>
                <a:ea typeface="Source Serif 4 SemiBold" pitchFamily="34" charset="-122"/>
                <a:cs typeface="Source Serif 4 SemiBold" pitchFamily="34" charset="-120"/>
              </a:rPr>
              <a:t>Main Idea</a:t>
            </a:r>
            <a:endParaRPr lang="en-US" sz="1450" dirty="0"/>
          </a:p>
        </p:txBody>
      </p:sp>
      <p:sp>
        <p:nvSpPr>
          <p:cNvPr id="9" name="Text 7"/>
          <p:cNvSpPr/>
          <p:nvPr/>
        </p:nvSpPr>
        <p:spPr>
          <a:xfrm>
            <a:off x="523577" y="4471541"/>
            <a:ext cx="8554045" cy="201513"/>
          </a:xfrm>
          <a:prstGeom prst="rect">
            <a:avLst/>
          </a:prstGeom>
          <a:noFill/>
          <a:ln/>
        </p:spPr>
        <p:txBody>
          <a:bodyPr wrap="none" lIns="0" tIns="0" rIns="0" bIns="0" rtlCol="0" anchor="t"/>
          <a:lstStyle/>
          <a:p>
            <a:pPr marL="0" indent="0" algn="l">
              <a:lnSpc>
                <a:spcPct val="126000"/>
              </a:lnSpc>
              <a:buNone/>
            </a:pPr>
            <a:r>
              <a:rPr lang="en-US" sz="1000" b="1" kern="0" spc="-21" dirty="0">
                <a:solidFill>
                  <a:srgbClr val="36454F"/>
                </a:solidFill>
                <a:latin typeface="Source Sans 3 Bold" pitchFamily="34" charset="0"/>
                <a:ea typeface="Source Sans 3 Bold" pitchFamily="34" charset="-122"/>
                <a:cs typeface="Source Sans 3 Bold" pitchFamily="34" charset="-120"/>
              </a:rPr>
              <a:t>One shell. Multiple DevOps operations. A simpler way to manage common development and operations tasks.</a:t>
            </a:r>
            <a:endParaRPr lang="en-US" sz="1000" dirty="0"/>
          </a:p>
        </p:txBody>
      </p:sp>
      <p:sp>
        <p:nvSpPr>
          <p:cNvPr id="11" name="Rectangle 10">
            <a:extLst>
              <a:ext uri="{FF2B5EF4-FFF2-40B4-BE49-F238E27FC236}">
                <a16:creationId xmlns:a16="http://schemas.microsoft.com/office/drawing/2014/main" id="{735151FC-253C-BB45-A548-88C190A9A473}"/>
              </a:ext>
            </a:extLst>
          </p:cNvPr>
          <p:cNvSpPr/>
          <p:nvPr/>
        </p:nvSpPr>
        <p:spPr>
          <a:xfrm>
            <a:off x="7807890" y="4577010"/>
            <a:ext cx="1274496" cy="555171"/>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1DABACC6-7529-6248-849B-24DB76A7CF4E}"/>
              </a:ext>
            </a:extLst>
          </p:cNvPr>
          <p:cNvPicPr>
            <a:picLocks noChangeAspect="1"/>
          </p:cNvPicPr>
          <p:nvPr/>
        </p:nvPicPr>
        <p:blipFill>
          <a:blip r:embed="rId3"/>
          <a:stretch>
            <a:fillRect/>
          </a:stretch>
        </p:blipFill>
        <p:spPr>
          <a:xfrm>
            <a:off x="7952831" y="4621570"/>
            <a:ext cx="984613" cy="4660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3577" y="411435"/>
            <a:ext cx="8096845" cy="426244"/>
          </a:xfrm>
          <a:prstGeom prst="rect">
            <a:avLst/>
          </a:prstGeom>
          <a:noFill/>
          <a:ln/>
        </p:spPr>
        <p:txBody>
          <a:bodyPr wrap="none" lIns="0" tIns="0" rIns="0" bIns="0" rtlCol="0" anchor="t"/>
          <a:lstStyle/>
          <a:p>
            <a:pPr marL="0" indent="0" algn="l">
              <a:lnSpc>
                <a:spcPct val="104000"/>
              </a:lnSpc>
              <a:buNone/>
            </a:pPr>
            <a:r>
              <a:rPr lang="en-US" sz="2650" kern="0" spc="-54" dirty="0">
                <a:solidFill>
                  <a:srgbClr val="000080"/>
                </a:solidFill>
                <a:latin typeface="Source Serif 4 SemiBold" pitchFamily="34" charset="0"/>
                <a:ea typeface="Source Serif 4 SemiBold" pitchFamily="34" charset="-122"/>
                <a:cs typeface="Source Serif 4 SemiBold" pitchFamily="34" charset="-120"/>
              </a:rPr>
              <a:t>Hardware &amp; Software Requirements</a:t>
            </a:r>
            <a:endParaRPr lang="en-US" sz="2650" dirty="0"/>
          </a:p>
        </p:txBody>
      </p:sp>
      <p:sp>
        <p:nvSpPr>
          <p:cNvPr id="3" name="Shape 1"/>
          <p:cNvSpPr/>
          <p:nvPr/>
        </p:nvSpPr>
        <p:spPr>
          <a:xfrm>
            <a:off x="523577" y="1084436"/>
            <a:ext cx="8096845" cy="19050"/>
          </a:xfrm>
          <a:prstGeom prst="roundRect">
            <a:avLst>
              <a:gd name="adj" fmla="val 50000"/>
            </a:avLst>
          </a:prstGeom>
          <a:solidFill>
            <a:srgbClr val="272525">
              <a:alpha val="50000"/>
            </a:srgbClr>
          </a:solidFill>
          <a:ln/>
        </p:spPr>
      </p:sp>
      <p:sp>
        <p:nvSpPr>
          <p:cNvPr id="4" name="Text 2"/>
          <p:cNvSpPr/>
          <p:nvPr/>
        </p:nvSpPr>
        <p:spPr>
          <a:xfrm>
            <a:off x="523577" y="1437903"/>
            <a:ext cx="3871615" cy="255761"/>
          </a:xfrm>
          <a:prstGeom prst="rect">
            <a:avLst/>
          </a:prstGeom>
          <a:noFill/>
          <a:ln/>
        </p:spPr>
        <p:txBody>
          <a:bodyPr wrap="none" lIns="0" tIns="0" rIns="0" bIns="0" rtlCol="0" anchor="t"/>
          <a:lstStyle/>
          <a:p>
            <a:pPr marL="0" indent="0" algn="l">
              <a:lnSpc>
                <a:spcPct val="104000"/>
              </a:lnSpc>
              <a:buNone/>
            </a:pPr>
            <a:r>
              <a:rPr lang="en-US" sz="1600" kern="0" spc="-32" dirty="0">
                <a:solidFill>
                  <a:srgbClr val="008000"/>
                </a:solidFill>
                <a:latin typeface="Source Serif 4 SemiBold" pitchFamily="34" charset="0"/>
                <a:ea typeface="Source Serif 4 SemiBold" pitchFamily="34" charset="-122"/>
                <a:cs typeface="Source Serif 4 SemiBold" pitchFamily="34" charset="-120"/>
              </a:rPr>
              <a:t>Hardware Requirements</a:t>
            </a:r>
            <a:endParaRPr lang="en-US" sz="1600" dirty="0"/>
          </a:p>
        </p:txBody>
      </p:sp>
      <p:sp>
        <p:nvSpPr>
          <p:cNvPr id="5" name="Text 3"/>
          <p:cNvSpPr/>
          <p:nvPr/>
        </p:nvSpPr>
        <p:spPr>
          <a:xfrm>
            <a:off x="523577" y="1834009"/>
            <a:ext cx="3871615" cy="1337965"/>
          </a:xfrm>
          <a:prstGeom prst="rect">
            <a:avLst/>
          </a:prstGeom>
          <a:noFill/>
          <a:ln/>
        </p:spPr>
        <p:txBody>
          <a:bodyPr wrap="square" lIns="0" tIns="57975" rIns="0" bIns="0" rtlCol="0" anchor="t">
            <a:normAutofit/>
          </a:bodyPr>
          <a:lstStyle/>
          <a:p>
            <a:pPr marL="223520" indent="-223520" algn="l">
              <a:lnSpc>
                <a:spcPct val="131000"/>
              </a:lnSpc>
              <a:buSzPct val="100000"/>
              <a:buChar char="•"/>
            </a:pPr>
            <a:r>
              <a:rPr lang="en-US" sz="1100" b="1" kern="0" spc="-23" dirty="0">
                <a:solidFill>
                  <a:srgbClr val="36454F"/>
                </a:solidFill>
                <a:latin typeface="Source Sans 3 Bold" pitchFamily="34" charset="0"/>
                <a:ea typeface="Source Sans 3 Bold" pitchFamily="34" charset="-122"/>
                <a:cs typeface="Source Sans 3 Bold" pitchFamily="34" charset="-120"/>
              </a:rPr>
              <a:t>Processor:</a:t>
            </a:r>
            <a:r>
              <a:rPr lang="en-US" sz="1100" kern="0" spc="-23" dirty="0">
                <a:solidFill>
                  <a:srgbClr val="36454F"/>
                </a:solidFill>
                <a:latin typeface="Source Sans 3" pitchFamily="34" charset="0"/>
                <a:ea typeface="Source Sans 3" pitchFamily="34" charset="-122"/>
                <a:cs typeface="Source Sans 3" pitchFamily="34" charset="-120"/>
              </a:rPr>
              <a:t> Intel Core i3 or equivalent</a:t>
            </a:r>
            <a:endParaRPr lang="en-US" sz="1100" dirty="0"/>
          </a:p>
          <a:p>
            <a:pPr marL="223520" indent="-223520" algn="l">
              <a:lnSpc>
                <a:spcPct val="131000"/>
              </a:lnSpc>
              <a:buSzPct val="100000"/>
              <a:buChar char="•"/>
            </a:pPr>
            <a:r>
              <a:rPr lang="en-US" sz="1100" b="1" kern="0" spc="-23" dirty="0">
                <a:solidFill>
                  <a:srgbClr val="36454F"/>
                </a:solidFill>
                <a:latin typeface="Source Sans 3 Bold" pitchFamily="34" charset="0"/>
                <a:ea typeface="Source Sans 3 Bold" pitchFamily="34" charset="-122"/>
                <a:cs typeface="Source Sans 3 Bold" pitchFamily="34" charset="-120"/>
              </a:rPr>
              <a:t>RAM:</a:t>
            </a:r>
            <a:r>
              <a:rPr lang="en-US" sz="1100" kern="0" spc="-23" dirty="0">
                <a:solidFill>
                  <a:srgbClr val="36454F"/>
                </a:solidFill>
                <a:latin typeface="Source Sans 3" pitchFamily="34" charset="0"/>
                <a:ea typeface="Source Sans 3" pitchFamily="34" charset="-122"/>
                <a:cs typeface="Source Sans 3" pitchFamily="34" charset="-120"/>
              </a:rPr>
              <a:t> 4 GB or higher</a:t>
            </a:r>
            <a:endParaRPr lang="en-US" sz="1100" dirty="0"/>
          </a:p>
          <a:p>
            <a:pPr marL="223520" indent="-223520" algn="l">
              <a:lnSpc>
                <a:spcPct val="131000"/>
              </a:lnSpc>
              <a:buSzPct val="100000"/>
              <a:buChar char="•"/>
            </a:pPr>
            <a:r>
              <a:rPr lang="en-US" sz="1100" b="1" kern="0" spc="-23" dirty="0">
                <a:solidFill>
                  <a:srgbClr val="36454F"/>
                </a:solidFill>
                <a:latin typeface="Source Sans 3 Bold" pitchFamily="34" charset="0"/>
                <a:ea typeface="Source Sans 3 Bold" pitchFamily="34" charset="-122"/>
                <a:cs typeface="Source Sans 3 Bold" pitchFamily="34" charset="-120"/>
              </a:rPr>
              <a:t>Storage:</a:t>
            </a:r>
            <a:r>
              <a:rPr lang="en-US" sz="1100" kern="0" spc="-23" dirty="0">
                <a:solidFill>
                  <a:srgbClr val="36454F"/>
                </a:solidFill>
                <a:latin typeface="Source Sans 3" pitchFamily="34" charset="0"/>
                <a:ea typeface="Source Sans 3" pitchFamily="34" charset="-122"/>
                <a:cs typeface="Source Sans 3" pitchFamily="34" charset="-120"/>
              </a:rPr>
              <a:t> 5 GB available space</a:t>
            </a:r>
            <a:endParaRPr lang="en-US" sz="1100" dirty="0"/>
          </a:p>
          <a:p>
            <a:pPr marL="223520" indent="-223520" algn="l">
              <a:lnSpc>
                <a:spcPct val="131000"/>
              </a:lnSpc>
              <a:buSzPct val="100000"/>
              <a:buChar char="•"/>
            </a:pPr>
            <a:r>
              <a:rPr lang="en-US" sz="1100" b="1" kern="0" spc="-23" dirty="0">
                <a:solidFill>
                  <a:srgbClr val="36454F"/>
                </a:solidFill>
                <a:latin typeface="Source Sans 3 Bold" pitchFamily="34" charset="0"/>
                <a:ea typeface="Source Sans 3 Bold" pitchFamily="34" charset="-122"/>
                <a:cs typeface="Source Sans 3 Bold" pitchFamily="34" charset="-120"/>
              </a:rPr>
              <a:t>Display:</a:t>
            </a:r>
            <a:r>
              <a:rPr lang="en-US" sz="1100" kern="0" spc="-23" dirty="0">
                <a:solidFill>
                  <a:srgbClr val="36454F"/>
                </a:solidFill>
                <a:latin typeface="Source Sans 3" pitchFamily="34" charset="0"/>
                <a:ea typeface="Source Sans 3" pitchFamily="34" charset="-122"/>
                <a:cs typeface="Source Sans 3" pitchFamily="34" charset="-120"/>
              </a:rPr>
              <a:t> Standard monitor</a:t>
            </a:r>
            <a:endParaRPr lang="en-US" sz="1100" dirty="0"/>
          </a:p>
          <a:p>
            <a:pPr marL="223520" indent="-223520" algn="l">
              <a:lnSpc>
                <a:spcPct val="131000"/>
              </a:lnSpc>
              <a:buSzPct val="100000"/>
              <a:buChar char="•"/>
            </a:pPr>
            <a:r>
              <a:rPr lang="en-US" sz="1100" b="1" kern="0" spc="-23" dirty="0">
                <a:solidFill>
                  <a:srgbClr val="36454F"/>
                </a:solidFill>
                <a:latin typeface="Source Sans 3 Bold" pitchFamily="34" charset="0"/>
                <a:ea typeface="Source Sans 3 Bold" pitchFamily="34" charset="-122"/>
                <a:cs typeface="Source Sans 3 Bold" pitchFamily="34" charset="-120"/>
              </a:rPr>
              <a:t>Keyboard and mouse</a:t>
            </a:r>
            <a:endParaRPr lang="en-US" sz="1100" dirty="0"/>
          </a:p>
        </p:txBody>
      </p:sp>
      <p:sp>
        <p:nvSpPr>
          <p:cNvPr id="6" name="Text 4"/>
          <p:cNvSpPr/>
          <p:nvPr/>
        </p:nvSpPr>
        <p:spPr>
          <a:xfrm>
            <a:off x="4753570" y="1437903"/>
            <a:ext cx="3871615" cy="255761"/>
          </a:xfrm>
          <a:prstGeom prst="rect">
            <a:avLst/>
          </a:prstGeom>
          <a:noFill/>
          <a:ln/>
        </p:spPr>
        <p:txBody>
          <a:bodyPr wrap="none" lIns="0" tIns="0" rIns="0" bIns="0" rtlCol="0" anchor="t"/>
          <a:lstStyle/>
          <a:p>
            <a:pPr marL="0" indent="0" algn="l">
              <a:lnSpc>
                <a:spcPct val="104000"/>
              </a:lnSpc>
              <a:buNone/>
            </a:pPr>
            <a:r>
              <a:rPr lang="en-US" sz="1600" kern="0" spc="-32" dirty="0">
                <a:solidFill>
                  <a:srgbClr val="008000"/>
                </a:solidFill>
                <a:latin typeface="Source Serif 4 SemiBold" pitchFamily="34" charset="0"/>
                <a:ea typeface="Source Serif 4 SemiBold" pitchFamily="34" charset="-122"/>
                <a:cs typeface="Source Serif 4 SemiBold" pitchFamily="34" charset="-120"/>
              </a:rPr>
              <a:t>Software Requirements</a:t>
            </a:r>
            <a:endParaRPr lang="en-US" sz="1600" dirty="0"/>
          </a:p>
        </p:txBody>
      </p:sp>
      <p:sp>
        <p:nvSpPr>
          <p:cNvPr id="7" name="Text 5"/>
          <p:cNvSpPr/>
          <p:nvPr/>
        </p:nvSpPr>
        <p:spPr>
          <a:xfrm>
            <a:off x="4753570" y="1834009"/>
            <a:ext cx="3871615" cy="1615380"/>
          </a:xfrm>
          <a:prstGeom prst="rect">
            <a:avLst/>
          </a:prstGeom>
          <a:noFill/>
          <a:ln/>
        </p:spPr>
        <p:txBody>
          <a:bodyPr wrap="square" lIns="0" tIns="57975" rIns="0" bIns="0" rtlCol="0" anchor="t">
            <a:normAutofit/>
          </a:bodyPr>
          <a:lstStyle/>
          <a:p>
            <a:pPr marL="223520" indent="-223520" algn="l">
              <a:lnSpc>
                <a:spcPct val="131000"/>
              </a:lnSpc>
              <a:buSzPct val="100000"/>
              <a:buChar char="•"/>
            </a:pPr>
            <a:r>
              <a:rPr lang="en-US" sz="1100" b="1" kern="0" spc="-23" dirty="0">
                <a:solidFill>
                  <a:srgbClr val="36454F"/>
                </a:solidFill>
                <a:latin typeface="Source Sans 3 Bold" pitchFamily="34" charset="0"/>
                <a:ea typeface="Source Sans 3 Bold" pitchFamily="34" charset="-122"/>
                <a:cs typeface="Source Sans 3 Bold" pitchFamily="34" charset="-120"/>
              </a:rPr>
              <a:t>Operating System:</a:t>
            </a:r>
            <a:r>
              <a:rPr lang="en-US" sz="1100" kern="0" spc="-23" dirty="0">
                <a:solidFill>
                  <a:srgbClr val="36454F"/>
                </a:solidFill>
                <a:latin typeface="Source Sans 3" pitchFamily="34" charset="0"/>
                <a:ea typeface="Source Sans 3" pitchFamily="34" charset="-122"/>
                <a:cs typeface="Source Sans 3" pitchFamily="34" charset="-120"/>
              </a:rPr>
              <a:t> Windows / Linux</a:t>
            </a:r>
            <a:endParaRPr lang="en-US" sz="1100" dirty="0"/>
          </a:p>
          <a:p>
            <a:pPr marL="223520" indent="-223520" algn="l">
              <a:lnSpc>
                <a:spcPct val="131000"/>
              </a:lnSpc>
              <a:buSzPct val="100000"/>
              <a:buChar char="•"/>
            </a:pPr>
            <a:r>
              <a:rPr lang="en-US" sz="1100" b="1" kern="0" spc="-23" dirty="0">
                <a:solidFill>
                  <a:srgbClr val="36454F"/>
                </a:solidFill>
                <a:latin typeface="Source Sans 3 Bold" pitchFamily="34" charset="0"/>
                <a:ea typeface="Source Sans 3 Bold" pitchFamily="34" charset="-122"/>
                <a:cs typeface="Source Sans 3 Bold" pitchFamily="34" charset="-120"/>
              </a:rPr>
              <a:t>Programming Language:</a:t>
            </a:r>
            <a:r>
              <a:rPr lang="en-US" sz="1100" kern="0" spc="-23" dirty="0">
                <a:solidFill>
                  <a:srgbClr val="36454F"/>
                </a:solidFill>
                <a:latin typeface="Source Sans 3" pitchFamily="34" charset="0"/>
                <a:ea typeface="Source Sans 3" pitchFamily="34" charset="-122"/>
                <a:cs typeface="Source Sans 3" pitchFamily="34" charset="-120"/>
              </a:rPr>
              <a:t> C / C++</a:t>
            </a:r>
            <a:endParaRPr lang="en-US" sz="1100" dirty="0"/>
          </a:p>
          <a:p>
            <a:pPr marL="223520" indent="-223520" algn="l">
              <a:lnSpc>
                <a:spcPct val="131000"/>
              </a:lnSpc>
              <a:buSzPct val="100000"/>
              <a:buChar char="•"/>
            </a:pPr>
            <a:r>
              <a:rPr lang="en-US" sz="1100" b="1" kern="0" spc="-23" dirty="0">
                <a:solidFill>
                  <a:srgbClr val="36454F"/>
                </a:solidFill>
                <a:latin typeface="Source Sans 3 Bold" pitchFamily="34" charset="0"/>
                <a:ea typeface="Source Sans 3 Bold" pitchFamily="34" charset="-122"/>
                <a:cs typeface="Source Sans 3 Bold" pitchFamily="34" charset="-120"/>
              </a:rPr>
              <a:t>Compiler:</a:t>
            </a:r>
            <a:r>
              <a:rPr lang="en-US" sz="1100" kern="0" spc="-23" dirty="0">
                <a:solidFill>
                  <a:srgbClr val="36454F"/>
                </a:solidFill>
                <a:latin typeface="Source Sans 3" pitchFamily="34" charset="0"/>
                <a:ea typeface="Source Sans 3" pitchFamily="34" charset="-122"/>
                <a:cs typeface="Source Sans 3" pitchFamily="34" charset="-120"/>
              </a:rPr>
              <a:t> GCC</a:t>
            </a:r>
            <a:endParaRPr lang="en-US" sz="1100" dirty="0"/>
          </a:p>
          <a:p>
            <a:pPr marL="223520" indent="-223520" algn="l">
              <a:lnSpc>
                <a:spcPct val="131000"/>
              </a:lnSpc>
              <a:buSzPct val="100000"/>
              <a:buChar char="•"/>
            </a:pPr>
            <a:r>
              <a:rPr lang="en-US" sz="1100" b="1" kern="0" spc="-23" dirty="0">
                <a:solidFill>
                  <a:srgbClr val="36454F"/>
                </a:solidFill>
                <a:latin typeface="Source Sans 3 Bold" pitchFamily="34" charset="0"/>
                <a:ea typeface="Source Sans 3 Bold" pitchFamily="34" charset="-122"/>
                <a:cs typeface="Source Sans 3 Bold" pitchFamily="34" charset="-120"/>
              </a:rPr>
              <a:t>Development Tools:</a:t>
            </a:r>
            <a:r>
              <a:rPr lang="en-US" sz="1100" kern="0" spc="-23" dirty="0">
                <a:solidFill>
                  <a:srgbClr val="36454F"/>
                </a:solidFill>
                <a:latin typeface="Source Sans 3" pitchFamily="34" charset="0"/>
                <a:ea typeface="Source Sans 3" pitchFamily="34" charset="-122"/>
                <a:cs typeface="Source Sans 3" pitchFamily="34" charset="-120"/>
              </a:rPr>
              <a:t> Terminal / Command Prompt</a:t>
            </a:r>
            <a:endParaRPr lang="en-US" sz="1100" dirty="0"/>
          </a:p>
          <a:p>
            <a:pPr marL="223520" indent="-223520" algn="l">
              <a:lnSpc>
                <a:spcPct val="131000"/>
              </a:lnSpc>
              <a:buSzPct val="100000"/>
              <a:buChar char="•"/>
            </a:pPr>
            <a:r>
              <a:rPr lang="en-US" sz="1100" b="1" kern="0" spc="-23" dirty="0">
                <a:solidFill>
                  <a:srgbClr val="36454F"/>
                </a:solidFill>
                <a:latin typeface="Source Sans 3 Bold" pitchFamily="34" charset="0"/>
                <a:ea typeface="Source Sans 3 Bold" pitchFamily="34" charset="-122"/>
                <a:cs typeface="Source Sans 3 Bold" pitchFamily="34" charset="-120"/>
              </a:rPr>
              <a:t>DevOps Tools:</a:t>
            </a:r>
            <a:r>
              <a:rPr lang="en-US" sz="1100" kern="0" spc="-23" dirty="0">
                <a:solidFill>
                  <a:srgbClr val="36454F"/>
                </a:solidFill>
                <a:latin typeface="Source Sans 3" pitchFamily="34" charset="0"/>
                <a:ea typeface="Source Sans 3" pitchFamily="34" charset="-122"/>
                <a:cs typeface="Source Sans 3" pitchFamily="34" charset="-120"/>
              </a:rPr>
              <a:t> Git and Docker</a:t>
            </a:r>
            <a:endParaRPr lang="en-US" sz="1100" dirty="0"/>
          </a:p>
          <a:p>
            <a:pPr marL="223520" indent="-223520" algn="l">
              <a:lnSpc>
                <a:spcPct val="131000"/>
              </a:lnSpc>
              <a:buSzPct val="100000"/>
              <a:buChar char="•"/>
            </a:pPr>
            <a:r>
              <a:rPr lang="en-US" sz="1100" b="1" kern="0" spc="-23" dirty="0">
                <a:solidFill>
                  <a:srgbClr val="36454F"/>
                </a:solidFill>
                <a:latin typeface="Source Sans 3 Bold" pitchFamily="34" charset="0"/>
                <a:ea typeface="Source Sans 3 Bold" pitchFamily="34" charset="-122"/>
                <a:cs typeface="Source Sans 3 Bold" pitchFamily="34" charset="-120"/>
              </a:rPr>
              <a:t>Build Tools:</a:t>
            </a:r>
            <a:r>
              <a:rPr lang="en-US" sz="1100" kern="0" spc="-23" dirty="0">
                <a:solidFill>
                  <a:srgbClr val="36454F"/>
                </a:solidFill>
                <a:latin typeface="Source Sans 3" pitchFamily="34" charset="0"/>
                <a:ea typeface="Source Sans 3" pitchFamily="34" charset="-122"/>
                <a:cs typeface="Source Sans 3" pitchFamily="34" charset="-120"/>
              </a:rPr>
              <a:t> Make or equivalent</a:t>
            </a:r>
            <a:endParaRPr lang="en-US" sz="1100" dirty="0"/>
          </a:p>
        </p:txBody>
      </p:sp>
      <p:sp>
        <p:nvSpPr>
          <p:cNvPr id="8" name="Text 6"/>
          <p:cNvSpPr/>
          <p:nvPr/>
        </p:nvSpPr>
        <p:spPr>
          <a:xfrm>
            <a:off x="523577" y="3709095"/>
            <a:ext cx="8096845" cy="255761"/>
          </a:xfrm>
          <a:prstGeom prst="rect">
            <a:avLst/>
          </a:prstGeom>
          <a:noFill/>
          <a:ln/>
        </p:spPr>
        <p:txBody>
          <a:bodyPr wrap="none" lIns="0" tIns="0" rIns="0" bIns="0" rtlCol="0" anchor="t"/>
          <a:lstStyle/>
          <a:p>
            <a:pPr marL="0" indent="0" algn="l">
              <a:lnSpc>
                <a:spcPct val="104000"/>
              </a:lnSpc>
              <a:buNone/>
            </a:pPr>
            <a:r>
              <a:rPr lang="en-US" sz="1600" kern="0" spc="-32" dirty="0">
                <a:solidFill>
                  <a:srgbClr val="008000"/>
                </a:solidFill>
                <a:latin typeface="Source Serif 4 SemiBold" pitchFamily="34" charset="0"/>
                <a:ea typeface="Source Serif 4 SemiBold" pitchFamily="34" charset="-122"/>
                <a:cs typeface="Source Serif 4 SemiBold" pitchFamily="34" charset="-120"/>
              </a:rPr>
              <a:t>Minimum Setup</a:t>
            </a:r>
            <a:endParaRPr lang="en-US" sz="1600" dirty="0"/>
          </a:p>
        </p:txBody>
      </p:sp>
      <p:sp>
        <p:nvSpPr>
          <p:cNvPr id="9" name="Text 7"/>
          <p:cNvSpPr/>
          <p:nvPr/>
        </p:nvSpPr>
        <p:spPr>
          <a:xfrm>
            <a:off x="523577" y="4175447"/>
            <a:ext cx="8096845" cy="456605"/>
          </a:xfrm>
          <a:prstGeom prst="rect">
            <a:avLst/>
          </a:prstGeom>
          <a:noFill/>
          <a:ln/>
        </p:spPr>
        <p:txBody>
          <a:bodyPr wrap="square" lIns="0" tIns="0" rIns="0" bIns="0" rtlCol="0" anchor="t">
            <a:normAutofit/>
          </a:bodyPr>
          <a:lstStyle/>
          <a:p>
            <a:pPr marL="0" indent="0" algn="l">
              <a:lnSpc>
                <a:spcPct val="131000"/>
              </a:lnSpc>
              <a:buNone/>
            </a:pPr>
            <a:r>
              <a:rPr lang="en-US" sz="1100" b="1" kern="0" spc="-23" dirty="0">
                <a:solidFill>
                  <a:srgbClr val="36454F"/>
                </a:solidFill>
                <a:latin typeface="Source Sans 3 Bold" pitchFamily="34" charset="0"/>
                <a:ea typeface="Source Sans 3 Bold" pitchFamily="34" charset="-122"/>
                <a:cs typeface="Source Sans 3 Bold" pitchFamily="34" charset="-120"/>
              </a:rPr>
              <a:t>A basic computer with a standard development environment, Git, Docker, and a terminal is sufficient to run and experiment with the DevOps Mini Shell.</a:t>
            </a:r>
            <a:endParaRPr lang="en-US" sz="1100" dirty="0"/>
          </a:p>
        </p:txBody>
      </p:sp>
      <p:sp>
        <p:nvSpPr>
          <p:cNvPr id="11" name="Rectangle 10">
            <a:extLst>
              <a:ext uri="{FF2B5EF4-FFF2-40B4-BE49-F238E27FC236}">
                <a16:creationId xmlns:a16="http://schemas.microsoft.com/office/drawing/2014/main" id="{8E33FA94-E7E0-80B7-3000-9915A5C49316}"/>
              </a:ext>
            </a:extLst>
          </p:cNvPr>
          <p:cNvSpPr/>
          <p:nvPr/>
        </p:nvSpPr>
        <p:spPr>
          <a:xfrm>
            <a:off x="7807890" y="4577010"/>
            <a:ext cx="1274496" cy="555171"/>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1652921D-523C-AA6E-4FD0-C32CFA9960D8}"/>
              </a:ext>
            </a:extLst>
          </p:cNvPr>
          <p:cNvPicPr>
            <a:picLocks noChangeAspect="1"/>
          </p:cNvPicPr>
          <p:nvPr/>
        </p:nvPicPr>
        <p:blipFill>
          <a:blip r:embed="rId3"/>
          <a:stretch>
            <a:fillRect/>
          </a:stretch>
        </p:blipFill>
        <p:spPr>
          <a:xfrm>
            <a:off x="7952831" y="4621570"/>
            <a:ext cx="984613" cy="4660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3577" y="411435"/>
            <a:ext cx="8096845" cy="405631"/>
          </a:xfrm>
          <a:prstGeom prst="rect">
            <a:avLst/>
          </a:prstGeom>
          <a:noFill/>
          <a:ln/>
        </p:spPr>
        <p:txBody>
          <a:bodyPr wrap="none" lIns="0" tIns="0" rIns="0" bIns="0" rtlCol="0" anchor="t"/>
          <a:lstStyle/>
          <a:p>
            <a:pPr marL="0" indent="0" algn="l">
              <a:lnSpc>
                <a:spcPct val="104000"/>
              </a:lnSpc>
              <a:buNone/>
            </a:pPr>
            <a:r>
              <a:rPr lang="en-US" sz="2550" kern="0" spc="-51" dirty="0">
                <a:solidFill>
                  <a:srgbClr val="000080"/>
                </a:solidFill>
                <a:latin typeface="Source Serif 4 SemiBold" pitchFamily="34" charset="0"/>
                <a:ea typeface="Source Serif 4 SemiBold" pitchFamily="34" charset="-122"/>
                <a:cs typeface="Source Serif 4 SemiBold" pitchFamily="34" charset="-120"/>
              </a:rPr>
              <a:t>Algorithms / Techniques Used</a:t>
            </a:r>
            <a:endParaRPr lang="en-US" sz="2550" dirty="0"/>
          </a:p>
        </p:txBody>
      </p:sp>
      <p:sp>
        <p:nvSpPr>
          <p:cNvPr id="3" name="Shape 1"/>
          <p:cNvSpPr/>
          <p:nvPr/>
        </p:nvSpPr>
        <p:spPr>
          <a:xfrm>
            <a:off x="523577" y="1105793"/>
            <a:ext cx="8096845" cy="19050"/>
          </a:xfrm>
          <a:prstGeom prst="roundRect">
            <a:avLst>
              <a:gd name="adj" fmla="val 50000"/>
            </a:avLst>
          </a:prstGeom>
          <a:solidFill>
            <a:srgbClr val="272525">
              <a:alpha val="50000"/>
            </a:srgbClr>
          </a:solidFill>
          <a:ln/>
        </p:spPr>
      </p:sp>
      <p:sp>
        <p:nvSpPr>
          <p:cNvPr id="4" name="Text 2"/>
          <p:cNvSpPr/>
          <p:nvPr/>
        </p:nvSpPr>
        <p:spPr>
          <a:xfrm>
            <a:off x="523577" y="1429420"/>
            <a:ext cx="3880172" cy="243408"/>
          </a:xfrm>
          <a:prstGeom prst="rect">
            <a:avLst/>
          </a:prstGeom>
          <a:noFill/>
          <a:ln/>
        </p:spPr>
        <p:txBody>
          <a:bodyPr wrap="none" lIns="0" tIns="0" rIns="0" bIns="0" rtlCol="0" anchor="t"/>
          <a:lstStyle/>
          <a:p>
            <a:pPr marL="0" indent="0" algn="l">
              <a:lnSpc>
                <a:spcPct val="104000"/>
              </a:lnSpc>
              <a:buNone/>
            </a:pPr>
            <a:r>
              <a:rPr lang="en-US" sz="1500" kern="0" spc="-31" dirty="0">
                <a:solidFill>
                  <a:srgbClr val="008000"/>
                </a:solidFill>
                <a:latin typeface="Source Serif 4 SemiBold" pitchFamily="34" charset="0"/>
                <a:ea typeface="Source Serif 4 SemiBold" pitchFamily="34" charset="-122"/>
                <a:cs typeface="Source Serif 4 SemiBold" pitchFamily="34" charset="-120"/>
              </a:rPr>
              <a:t>Command Processing</a:t>
            </a:r>
            <a:endParaRPr lang="en-US" sz="1500" dirty="0"/>
          </a:p>
        </p:txBody>
      </p:sp>
      <p:sp>
        <p:nvSpPr>
          <p:cNvPr id="5" name="Text 3"/>
          <p:cNvSpPr/>
          <p:nvPr/>
        </p:nvSpPr>
        <p:spPr>
          <a:xfrm>
            <a:off x="523577" y="1799927"/>
            <a:ext cx="3880172" cy="1617018"/>
          </a:xfrm>
          <a:prstGeom prst="rect">
            <a:avLst/>
          </a:prstGeom>
          <a:noFill/>
          <a:ln/>
        </p:spPr>
        <p:txBody>
          <a:bodyPr wrap="square" lIns="0" tIns="55170" rIns="0" bIns="0" rtlCol="0" anchor="t">
            <a:normAutofit/>
          </a:bodyPr>
          <a:lstStyle/>
          <a:p>
            <a:pPr marL="213360" indent="-213360" algn="l">
              <a:lnSpc>
                <a:spcPct val="128000"/>
              </a:lnSpc>
              <a:buSzPct val="100000"/>
              <a:buChar char="•"/>
            </a:pPr>
            <a:r>
              <a:rPr lang="en-US" sz="1050" kern="0" spc="-22" dirty="0">
                <a:solidFill>
                  <a:srgbClr val="36454F"/>
                </a:solidFill>
                <a:latin typeface="Source Sans 3" pitchFamily="34" charset="0"/>
                <a:ea typeface="Source Sans 3" pitchFamily="34" charset="-122"/>
                <a:cs typeface="Source Sans 3" pitchFamily="34" charset="-120"/>
              </a:rPr>
              <a:t>Command Parsing — Identifies the requested operation and arguments</a:t>
            </a:r>
            <a:endParaRPr lang="en-US" sz="1050" dirty="0"/>
          </a:p>
          <a:p>
            <a:pPr marL="213360" indent="-213360" algn="l">
              <a:lnSpc>
                <a:spcPct val="128000"/>
              </a:lnSpc>
              <a:buSzPct val="100000"/>
              <a:buChar char="•"/>
            </a:pPr>
            <a:r>
              <a:rPr lang="en-US" sz="1050" kern="0" spc="-22" dirty="0">
                <a:solidFill>
                  <a:srgbClr val="36454F"/>
                </a:solidFill>
                <a:latin typeface="Source Sans 3" pitchFamily="34" charset="0"/>
                <a:ea typeface="Source Sans 3" pitchFamily="34" charset="-122"/>
                <a:cs typeface="Source Sans 3" pitchFamily="34" charset="-120"/>
              </a:rPr>
              <a:t>Command Validation — Checks command structure and required parameters</a:t>
            </a:r>
            <a:endParaRPr lang="en-US" sz="1050" dirty="0"/>
          </a:p>
          <a:p>
            <a:pPr marL="213360" indent="-213360" algn="l">
              <a:lnSpc>
                <a:spcPct val="128000"/>
              </a:lnSpc>
              <a:buSzPct val="100000"/>
              <a:buChar char="•"/>
            </a:pPr>
            <a:r>
              <a:rPr lang="en-US" sz="1050" kern="0" spc="-22" dirty="0">
                <a:solidFill>
                  <a:srgbClr val="36454F"/>
                </a:solidFill>
                <a:latin typeface="Source Sans 3" pitchFamily="34" charset="0"/>
                <a:ea typeface="Source Sans 3" pitchFamily="34" charset="-122"/>
                <a:cs typeface="Source Sans 3" pitchFamily="34" charset="-120"/>
              </a:rPr>
              <a:t>Command Dispatching — Routes commands to the appropriate operation</a:t>
            </a:r>
            <a:endParaRPr lang="en-US" sz="1050" dirty="0"/>
          </a:p>
          <a:p>
            <a:pPr marL="213360" indent="-213360" algn="l">
              <a:lnSpc>
                <a:spcPct val="128000"/>
              </a:lnSpc>
              <a:buSzPct val="100000"/>
              <a:buChar char="•"/>
            </a:pPr>
            <a:r>
              <a:rPr lang="en-US" sz="1050" kern="0" spc="-22" dirty="0">
                <a:solidFill>
                  <a:srgbClr val="36454F"/>
                </a:solidFill>
                <a:latin typeface="Source Sans 3" pitchFamily="34" charset="0"/>
                <a:ea typeface="Source Sans 3" pitchFamily="34" charset="-122"/>
                <a:cs typeface="Source Sans 3" pitchFamily="34" charset="-120"/>
              </a:rPr>
              <a:t>Argument Handling — Processes user-provided options and inputs</a:t>
            </a:r>
            <a:endParaRPr lang="en-US" sz="1050" dirty="0"/>
          </a:p>
        </p:txBody>
      </p:sp>
      <p:sp>
        <p:nvSpPr>
          <p:cNvPr id="6" name="Text 4"/>
          <p:cNvSpPr/>
          <p:nvPr/>
        </p:nvSpPr>
        <p:spPr>
          <a:xfrm>
            <a:off x="4745013" y="1429420"/>
            <a:ext cx="3880172" cy="243408"/>
          </a:xfrm>
          <a:prstGeom prst="rect">
            <a:avLst/>
          </a:prstGeom>
          <a:noFill/>
          <a:ln/>
        </p:spPr>
        <p:txBody>
          <a:bodyPr wrap="none" lIns="0" tIns="0" rIns="0" bIns="0" rtlCol="0" anchor="t"/>
          <a:lstStyle/>
          <a:p>
            <a:pPr marL="0" indent="0" algn="l">
              <a:lnSpc>
                <a:spcPct val="104000"/>
              </a:lnSpc>
              <a:buNone/>
            </a:pPr>
            <a:r>
              <a:rPr lang="en-US" sz="1500" kern="0" spc="-31" dirty="0">
                <a:solidFill>
                  <a:srgbClr val="008000"/>
                </a:solidFill>
                <a:latin typeface="Source Serif 4 SemiBold" pitchFamily="34" charset="0"/>
                <a:ea typeface="Source Serif 4 SemiBold" pitchFamily="34" charset="-122"/>
                <a:cs typeface="Source Serif 4 SemiBold" pitchFamily="34" charset="-120"/>
              </a:rPr>
              <a:t>DevOps Operations</a:t>
            </a:r>
            <a:endParaRPr lang="en-US" sz="1500" dirty="0"/>
          </a:p>
        </p:txBody>
      </p:sp>
      <p:sp>
        <p:nvSpPr>
          <p:cNvPr id="7" name="Text 5"/>
          <p:cNvSpPr/>
          <p:nvPr/>
        </p:nvSpPr>
        <p:spPr>
          <a:xfrm>
            <a:off x="4745013" y="1799927"/>
            <a:ext cx="3880172" cy="981224"/>
          </a:xfrm>
          <a:prstGeom prst="rect">
            <a:avLst/>
          </a:prstGeom>
          <a:noFill/>
          <a:ln/>
        </p:spPr>
        <p:txBody>
          <a:bodyPr wrap="square" lIns="0" tIns="55170" rIns="0" bIns="0" rtlCol="0" anchor="t">
            <a:normAutofit/>
          </a:bodyPr>
          <a:lstStyle/>
          <a:p>
            <a:pPr marL="213360" indent="-213360" algn="l">
              <a:lnSpc>
                <a:spcPct val="128000"/>
              </a:lnSpc>
              <a:buSzPct val="100000"/>
              <a:buChar char="•"/>
            </a:pPr>
            <a:r>
              <a:rPr lang="en-US" sz="1050" kern="0" spc="-22" dirty="0">
                <a:solidFill>
                  <a:srgbClr val="36454F"/>
                </a:solidFill>
                <a:latin typeface="Source Sans 3" pitchFamily="34" charset="0"/>
                <a:ea typeface="Source Sans 3" pitchFamily="34" charset="-122"/>
                <a:cs typeface="Source Sans 3" pitchFamily="34" charset="-120"/>
              </a:rPr>
              <a:t>Git Operations — Repository and version control commands</a:t>
            </a:r>
            <a:endParaRPr lang="en-US" sz="1050" dirty="0"/>
          </a:p>
          <a:p>
            <a:pPr marL="213360" indent="-213360" algn="l">
              <a:lnSpc>
                <a:spcPct val="128000"/>
              </a:lnSpc>
              <a:buSzPct val="100000"/>
              <a:buChar char="•"/>
            </a:pPr>
            <a:r>
              <a:rPr lang="en-US" sz="1050" kern="0" spc="-22" dirty="0">
                <a:solidFill>
                  <a:srgbClr val="36454F"/>
                </a:solidFill>
                <a:latin typeface="Source Sans 3" pitchFamily="34" charset="0"/>
                <a:ea typeface="Source Sans 3" pitchFamily="34" charset="-122"/>
                <a:cs typeface="Source Sans 3" pitchFamily="34" charset="-120"/>
              </a:rPr>
              <a:t>Docker Operations — Container management commands</a:t>
            </a:r>
            <a:endParaRPr lang="en-US" sz="1050" dirty="0"/>
          </a:p>
          <a:p>
            <a:pPr marL="213360" indent="-213360" algn="l">
              <a:lnSpc>
                <a:spcPct val="128000"/>
              </a:lnSpc>
              <a:buSzPct val="100000"/>
              <a:buChar char="•"/>
            </a:pPr>
            <a:r>
              <a:rPr lang="en-US" sz="1050" kern="0" spc="-22" dirty="0">
                <a:solidFill>
                  <a:srgbClr val="36454F"/>
                </a:solidFill>
                <a:latin typeface="Source Sans 3" pitchFamily="34" charset="0"/>
                <a:ea typeface="Source Sans 3" pitchFamily="34" charset="-122"/>
                <a:cs typeface="Source Sans 3" pitchFamily="34" charset="-120"/>
              </a:rPr>
              <a:t>Build Automation — Executes build-related commands</a:t>
            </a:r>
            <a:endParaRPr lang="en-US" sz="1050" dirty="0"/>
          </a:p>
          <a:p>
            <a:pPr marL="213360" indent="-213360" algn="l">
              <a:lnSpc>
                <a:spcPct val="128000"/>
              </a:lnSpc>
              <a:buSzPct val="100000"/>
              <a:buChar char="•"/>
            </a:pPr>
            <a:r>
              <a:rPr lang="en-US" sz="1050" kern="0" spc="-22" dirty="0">
                <a:solidFill>
                  <a:srgbClr val="36454F"/>
                </a:solidFill>
                <a:latin typeface="Source Sans 3" pitchFamily="34" charset="0"/>
                <a:ea typeface="Source Sans 3" pitchFamily="34" charset="-122"/>
                <a:cs typeface="Source Sans 3" pitchFamily="34" charset="-120"/>
              </a:rPr>
              <a:t>System Monitoring — Displays process and system information</a:t>
            </a:r>
            <a:endParaRPr lang="en-US" sz="1050" dirty="0"/>
          </a:p>
        </p:txBody>
      </p:sp>
      <p:sp>
        <p:nvSpPr>
          <p:cNvPr id="8" name="Text 6"/>
          <p:cNvSpPr/>
          <p:nvPr/>
        </p:nvSpPr>
        <p:spPr>
          <a:xfrm>
            <a:off x="523577" y="3652168"/>
            <a:ext cx="8096845" cy="243408"/>
          </a:xfrm>
          <a:prstGeom prst="rect">
            <a:avLst/>
          </a:prstGeom>
          <a:noFill/>
          <a:ln/>
        </p:spPr>
        <p:txBody>
          <a:bodyPr wrap="none" lIns="0" tIns="0" rIns="0" bIns="0" rtlCol="0" anchor="t"/>
          <a:lstStyle/>
          <a:p>
            <a:pPr marL="0" indent="0" algn="l">
              <a:lnSpc>
                <a:spcPct val="104000"/>
              </a:lnSpc>
              <a:buNone/>
            </a:pPr>
            <a:r>
              <a:rPr lang="en-US" sz="1500" kern="0" spc="-31" dirty="0">
                <a:solidFill>
                  <a:srgbClr val="008000"/>
                </a:solidFill>
                <a:latin typeface="Source Serif 4 SemiBold" pitchFamily="34" charset="0"/>
                <a:ea typeface="Source Serif 4 SemiBold" pitchFamily="34" charset="-122"/>
                <a:cs typeface="Source Serif 4 SemiBold" pitchFamily="34" charset="-120"/>
              </a:rPr>
              <a:t>Purpose</a:t>
            </a:r>
            <a:endParaRPr lang="en-US" sz="1500" dirty="0"/>
          </a:p>
        </p:txBody>
      </p:sp>
      <p:sp>
        <p:nvSpPr>
          <p:cNvPr id="9" name="Text 7"/>
          <p:cNvSpPr/>
          <p:nvPr/>
        </p:nvSpPr>
        <p:spPr>
          <a:xfrm>
            <a:off x="523577" y="4086299"/>
            <a:ext cx="8096845" cy="635794"/>
          </a:xfrm>
          <a:prstGeom prst="rect">
            <a:avLst/>
          </a:prstGeom>
          <a:noFill/>
          <a:ln/>
        </p:spPr>
        <p:txBody>
          <a:bodyPr wrap="square" lIns="0" tIns="0" rIns="0" bIns="0" rtlCol="0" anchor="t">
            <a:normAutofit/>
          </a:bodyPr>
          <a:lstStyle/>
          <a:p>
            <a:pPr marL="0" indent="0" algn="l">
              <a:lnSpc>
                <a:spcPct val="128000"/>
              </a:lnSpc>
              <a:buNone/>
            </a:pPr>
            <a:r>
              <a:rPr lang="en-US" sz="1050" kern="0" spc="-22" dirty="0">
                <a:solidFill>
                  <a:srgbClr val="36454F"/>
                </a:solidFill>
                <a:latin typeface="Source Sans 3" pitchFamily="34" charset="0"/>
                <a:ea typeface="Source Sans 3" pitchFamily="34" charset="-122"/>
                <a:cs typeface="Source Sans 3" pitchFamily="34" charset="-120"/>
              </a:rPr>
              <a:t>These techniques allow the DevOps Mini Shell to process user commands and execute different DevOps operations through one unified interface. The shell reduces the need to switch between separate tools and provides a practical way to perform and observe common development and operations tasks.</a:t>
            </a:r>
            <a:endParaRPr lang="en-US" sz="1050" dirty="0"/>
          </a:p>
        </p:txBody>
      </p:sp>
      <p:sp>
        <p:nvSpPr>
          <p:cNvPr id="11" name="Rectangle 10">
            <a:extLst>
              <a:ext uri="{FF2B5EF4-FFF2-40B4-BE49-F238E27FC236}">
                <a16:creationId xmlns:a16="http://schemas.microsoft.com/office/drawing/2014/main" id="{7B744F3A-7AE1-0C53-1FF9-F378D00213A0}"/>
              </a:ext>
            </a:extLst>
          </p:cNvPr>
          <p:cNvSpPr/>
          <p:nvPr/>
        </p:nvSpPr>
        <p:spPr>
          <a:xfrm>
            <a:off x="7807890" y="4577010"/>
            <a:ext cx="1274496" cy="555171"/>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A5C582AF-334B-2664-C427-7D66F26DF8DC}"/>
              </a:ext>
            </a:extLst>
          </p:cNvPr>
          <p:cNvPicPr>
            <a:picLocks noChangeAspect="1"/>
          </p:cNvPicPr>
          <p:nvPr/>
        </p:nvPicPr>
        <p:blipFill>
          <a:blip r:embed="rId3"/>
          <a:stretch>
            <a:fillRect/>
          </a:stretch>
        </p:blipFill>
        <p:spPr>
          <a:xfrm>
            <a:off x="7952831" y="4621570"/>
            <a:ext cx="984613" cy="4660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23577" y="411435"/>
            <a:ext cx="8096845" cy="219968"/>
          </a:xfrm>
          <a:prstGeom prst="rect">
            <a:avLst/>
          </a:prstGeom>
          <a:noFill/>
          <a:ln/>
        </p:spPr>
        <p:txBody>
          <a:bodyPr wrap="none" lIns="0" tIns="0" rIns="0" bIns="0" rtlCol="0" anchor="t"/>
          <a:lstStyle/>
          <a:p>
            <a:pPr marL="0" indent="0" algn="l">
              <a:lnSpc>
                <a:spcPct val="104000"/>
              </a:lnSpc>
              <a:buNone/>
            </a:pPr>
            <a:r>
              <a:rPr lang="en-US" sz="1050" kern="0" spc="-28" dirty="0">
                <a:solidFill>
                  <a:srgbClr val="000080"/>
                </a:solidFill>
                <a:latin typeface="Source Serif 4 SemiBold" pitchFamily="34" charset="0"/>
                <a:ea typeface="Source Serif 4 SemiBold" pitchFamily="34" charset="-122"/>
                <a:cs typeface="Source Serif 4 SemiBold" pitchFamily="34" charset="-120"/>
              </a:rPr>
              <a:t>Future Enhancements</a:t>
            </a:r>
            <a:endParaRPr lang="en-US" sz="1050" dirty="0"/>
          </a:p>
        </p:txBody>
      </p:sp>
      <p:sp>
        <p:nvSpPr>
          <p:cNvPr id="3" name="Shape 1"/>
          <p:cNvSpPr/>
          <p:nvPr/>
        </p:nvSpPr>
        <p:spPr>
          <a:xfrm>
            <a:off x="523577" y="724867"/>
            <a:ext cx="8096845" cy="9525"/>
          </a:xfrm>
          <a:prstGeom prst="roundRect">
            <a:avLst>
              <a:gd name="adj" fmla="val 50000"/>
            </a:avLst>
          </a:prstGeom>
          <a:solidFill>
            <a:srgbClr val="272525">
              <a:alpha val="50000"/>
            </a:srgbClr>
          </a:solidFill>
          <a:ln/>
        </p:spPr>
      </p:sp>
      <p:sp>
        <p:nvSpPr>
          <p:cNvPr id="4" name="Text 2"/>
          <p:cNvSpPr/>
          <p:nvPr/>
        </p:nvSpPr>
        <p:spPr>
          <a:xfrm>
            <a:off x="523577" y="809104"/>
            <a:ext cx="8096845" cy="131936"/>
          </a:xfrm>
          <a:prstGeom prst="rect">
            <a:avLst/>
          </a:prstGeom>
          <a:noFill/>
          <a:ln/>
        </p:spPr>
        <p:txBody>
          <a:bodyPr wrap="none" lIns="0" tIns="0" rIns="0" bIns="0" rtlCol="0" anchor="t"/>
          <a:lstStyle/>
          <a:p>
            <a:pPr marL="0" indent="0" algn="l">
              <a:lnSpc>
                <a:spcPct val="104000"/>
              </a:lnSpc>
              <a:buNone/>
            </a:pPr>
            <a:r>
              <a:rPr lang="en-US" sz="1050" kern="0" spc="-17" dirty="0">
                <a:solidFill>
                  <a:srgbClr val="008000"/>
                </a:solidFill>
                <a:latin typeface="Source Serif 4 SemiBold" pitchFamily="34" charset="0"/>
                <a:ea typeface="Source Serif 4 SemiBold" pitchFamily="34" charset="-122"/>
                <a:cs typeface="Source Serif 4 SemiBold" pitchFamily="34" charset="-120"/>
              </a:rPr>
              <a:t>Planned Improvements</a:t>
            </a:r>
            <a:endParaRPr lang="en-US" sz="1050" dirty="0"/>
          </a:p>
        </p:txBody>
      </p:sp>
      <p:sp>
        <p:nvSpPr>
          <p:cNvPr id="5" name="Text 3"/>
          <p:cNvSpPr/>
          <p:nvPr/>
        </p:nvSpPr>
        <p:spPr>
          <a:xfrm>
            <a:off x="523578" y="1356614"/>
            <a:ext cx="8096845" cy="109984"/>
          </a:xfrm>
          <a:prstGeom prst="rect">
            <a:avLst/>
          </a:prstGeom>
          <a:noFill/>
          <a:ln/>
        </p:spPr>
        <p:txBody>
          <a:bodyPr wrap="none" lIns="0" tIns="0" rIns="0" bIns="0" rtlCol="0" anchor="t"/>
          <a:lstStyle/>
          <a:p>
            <a:pPr marL="0" indent="0" algn="l">
              <a:lnSpc>
                <a:spcPct val="104000"/>
              </a:lnSpc>
              <a:buNone/>
            </a:pPr>
            <a:r>
              <a:rPr lang="en-US" sz="1050" kern="0" spc="-14" dirty="0">
                <a:solidFill>
                  <a:srgbClr val="008000"/>
                </a:solidFill>
                <a:latin typeface="Source Serif 4 SemiBold" pitchFamily="34" charset="0"/>
                <a:ea typeface="Source Serif 4 SemiBold" pitchFamily="34" charset="-122"/>
                <a:cs typeface="Source Serif 4 SemiBold" pitchFamily="34" charset="-120"/>
              </a:rPr>
              <a:t>More DevOps Commands</a:t>
            </a:r>
            <a:endParaRPr lang="en-US" sz="1050" dirty="0"/>
          </a:p>
        </p:txBody>
      </p:sp>
      <p:sp>
        <p:nvSpPr>
          <p:cNvPr id="6" name="Text 4"/>
          <p:cNvSpPr/>
          <p:nvPr/>
        </p:nvSpPr>
        <p:spPr>
          <a:xfrm>
            <a:off x="523572" y="1556376"/>
            <a:ext cx="8554045" cy="89743"/>
          </a:xfrm>
          <a:prstGeom prst="rect">
            <a:avLst/>
          </a:prstGeom>
          <a:noFill/>
          <a:ln/>
        </p:spPr>
        <p:txBody>
          <a:bodyPr wrap="none" lIns="0" tIns="0" rIns="0" bIns="0" rtlCol="0" anchor="t"/>
          <a:lstStyle/>
          <a:p>
            <a:pPr marL="0" indent="0" algn="l">
              <a:lnSpc>
                <a:spcPct val="100000"/>
              </a:lnSpc>
              <a:buNone/>
            </a:pPr>
            <a:r>
              <a:rPr lang="en-US" sz="1050" kern="0" spc="-12" dirty="0">
                <a:solidFill>
                  <a:srgbClr val="36454F"/>
                </a:solidFill>
                <a:latin typeface="Source Sans 3" pitchFamily="34" charset="0"/>
                <a:ea typeface="Source Sans 3" pitchFamily="34" charset="-122"/>
                <a:cs typeface="Source Sans 3" pitchFamily="34" charset="-120"/>
              </a:rPr>
              <a:t>Add support for additional Git, Docker, networking, system administration, and deployment commands.</a:t>
            </a:r>
            <a:endParaRPr lang="en-US" sz="1050" dirty="0"/>
          </a:p>
        </p:txBody>
      </p:sp>
      <p:sp>
        <p:nvSpPr>
          <p:cNvPr id="7" name="Text 5"/>
          <p:cNvSpPr/>
          <p:nvPr/>
        </p:nvSpPr>
        <p:spPr>
          <a:xfrm>
            <a:off x="523572" y="1907017"/>
            <a:ext cx="8096845" cy="109984"/>
          </a:xfrm>
          <a:prstGeom prst="rect">
            <a:avLst/>
          </a:prstGeom>
          <a:noFill/>
          <a:ln/>
        </p:spPr>
        <p:txBody>
          <a:bodyPr wrap="none" lIns="0" tIns="0" rIns="0" bIns="0" rtlCol="0" anchor="t"/>
          <a:lstStyle/>
          <a:p>
            <a:pPr marL="0" indent="0" algn="l">
              <a:lnSpc>
                <a:spcPct val="104000"/>
              </a:lnSpc>
              <a:buNone/>
            </a:pPr>
            <a:r>
              <a:rPr lang="en-US" sz="1050" kern="0" spc="-14" dirty="0">
                <a:solidFill>
                  <a:srgbClr val="008000"/>
                </a:solidFill>
                <a:latin typeface="Source Serif 4 SemiBold" pitchFamily="34" charset="0"/>
                <a:ea typeface="Source Serif 4 SemiBold" pitchFamily="34" charset="-122"/>
                <a:cs typeface="Source Serif 4 SemiBold" pitchFamily="34" charset="-120"/>
              </a:rPr>
              <a:t>Command Chaining</a:t>
            </a:r>
            <a:endParaRPr lang="en-US" sz="1050" dirty="0"/>
          </a:p>
        </p:txBody>
      </p:sp>
      <p:sp>
        <p:nvSpPr>
          <p:cNvPr id="8" name="Text 6"/>
          <p:cNvSpPr/>
          <p:nvPr/>
        </p:nvSpPr>
        <p:spPr>
          <a:xfrm>
            <a:off x="523573" y="2150815"/>
            <a:ext cx="8554045" cy="89743"/>
          </a:xfrm>
          <a:prstGeom prst="rect">
            <a:avLst/>
          </a:prstGeom>
          <a:noFill/>
          <a:ln/>
        </p:spPr>
        <p:txBody>
          <a:bodyPr wrap="none" lIns="0" tIns="0" rIns="0" bIns="0" rtlCol="0" anchor="t"/>
          <a:lstStyle/>
          <a:p>
            <a:pPr marL="0" indent="0" algn="l">
              <a:lnSpc>
                <a:spcPct val="100000"/>
              </a:lnSpc>
              <a:buNone/>
            </a:pPr>
            <a:r>
              <a:rPr lang="en-US" sz="1050" kern="0" spc="-12" dirty="0">
                <a:solidFill>
                  <a:srgbClr val="36454F"/>
                </a:solidFill>
                <a:latin typeface="Source Sans 3" pitchFamily="34" charset="0"/>
                <a:ea typeface="Source Sans 3" pitchFamily="34" charset="-122"/>
                <a:cs typeface="Source Sans 3" pitchFamily="34" charset="-120"/>
              </a:rPr>
              <a:t>Allow multiple DevOps commands to be combined and executed as a single workflow.</a:t>
            </a:r>
            <a:endParaRPr lang="en-US" sz="1050" dirty="0"/>
          </a:p>
        </p:txBody>
      </p:sp>
      <p:sp>
        <p:nvSpPr>
          <p:cNvPr id="9" name="Text 7"/>
          <p:cNvSpPr/>
          <p:nvPr/>
        </p:nvSpPr>
        <p:spPr>
          <a:xfrm>
            <a:off x="523573" y="2618171"/>
            <a:ext cx="8096845" cy="109984"/>
          </a:xfrm>
          <a:prstGeom prst="rect">
            <a:avLst/>
          </a:prstGeom>
          <a:noFill/>
          <a:ln/>
        </p:spPr>
        <p:txBody>
          <a:bodyPr wrap="none" lIns="0" tIns="0" rIns="0" bIns="0" rtlCol="0" anchor="t"/>
          <a:lstStyle/>
          <a:p>
            <a:pPr marL="0" indent="0" algn="l">
              <a:lnSpc>
                <a:spcPct val="104000"/>
              </a:lnSpc>
              <a:buNone/>
            </a:pPr>
            <a:r>
              <a:rPr lang="en-US" sz="1050" kern="0" spc="-14" dirty="0">
                <a:solidFill>
                  <a:srgbClr val="008000"/>
                </a:solidFill>
                <a:latin typeface="Source Serif 4 SemiBold" pitchFamily="34" charset="0"/>
                <a:ea typeface="Source Serif 4 SemiBold" pitchFamily="34" charset="-122"/>
                <a:cs typeface="Source Serif 4 SemiBold" pitchFamily="34" charset="-120"/>
              </a:rPr>
              <a:t>Workflow Automation</a:t>
            </a:r>
            <a:endParaRPr lang="en-US" sz="1050" dirty="0"/>
          </a:p>
        </p:txBody>
      </p:sp>
      <p:sp>
        <p:nvSpPr>
          <p:cNvPr id="10" name="Text 8"/>
          <p:cNvSpPr/>
          <p:nvPr/>
        </p:nvSpPr>
        <p:spPr>
          <a:xfrm>
            <a:off x="523574" y="2830454"/>
            <a:ext cx="8554045" cy="89743"/>
          </a:xfrm>
          <a:prstGeom prst="rect">
            <a:avLst/>
          </a:prstGeom>
          <a:noFill/>
          <a:ln/>
        </p:spPr>
        <p:txBody>
          <a:bodyPr wrap="none" lIns="0" tIns="0" rIns="0" bIns="0" rtlCol="0" anchor="t"/>
          <a:lstStyle/>
          <a:p>
            <a:pPr marL="0" indent="0" algn="l">
              <a:lnSpc>
                <a:spcPct val="100000"/>
              </a:lnSpc>
              <a:buNone/>
            </a:pPr>
            <a:r>
              <a:rPr lang="en-US" sz="1050" kern="0" spc="-12" dirty="0">
                <a:solidFill>
                  <a:srgbClr val="36454F"/>
                </a:solidFill>
                <a:latin typeface="Source Sans 3" pitchFamily="34" charset="0"/>
                <a:ea typeface="Source Sans 3" pitchFamily="34" charset="-122"/>
                <a:cs typeface="Source Sans 3" pitchFamily="34" charset="-120"/>
              </a:rPr>
              <a:t>Provide predefined workflows for common tasks such as build, test, container creation, and deployment.</a:t>
            </a:r>
            <a:endParaRPr lang="en-US" sz="1050" dirty="0"/>
          </a:p>
        </p:txBody>
      </p:sp>
      <p:sp>
        <p:nvSpPr>
          <p:cNvPr id="11" name="Text 9"/>
          <p:cNvSpPr/>
          <p:nvPr/>
        </p:nvSpPr>
        <p:spPr>
          <a:xfrm>
            <a:off x="523577" y="3287431"/>
            <a:ext cx="8096845" cy="109984"/>
          </a:xfrm>
          <a:prstGeom prst="rect">
            <a:avLst/>
          </a:prstGeom>
          <a:noFill/>
          <a:ln/>
        </p:spPr>
        <p:txBody>
          <a:bodyPr wrap="none" lIns="0" tIns="0" rIns="0" bIns="0" rtlCol="0" anchor="t"/>
          <a:lstStyle/>
          <a:p>
            <a:pPr marL="0" indent="0" algn="l">
              <a:lnSpc>
                <a:spcPct val="104000"/>
              </a:lnSpc>
              <a:buNone/>
            </a:pPr>
            <a:r>
              <a:rPr lang="en-US" sz="1050" kern="0" spc="-14" dirty="0">
                <a:solidFill>
                  <a:srgbClr val="008000"/>
                </a:solidFill>
                <a:latin typeface="Source Serif 4 SemiBold" pitchFamily="34" charset="0"/>
                <a:ea typeface="Source Serif 4 SemiBold" pitchFamily="34" charset="-122"/>
                <a:cs typeface="Source Serif 4 SemiBold" pitchFamily="34" charset="-120"/>
              </a:rPr>
              <a:t>Command History &amp; Logging</a:t>
            </a:r>
            <a:endParaRPr lang="en-US" sz="1050" dirty="0"/>
          </a:p>
        </p:txBody>
      </p:sp>
      <p:sp>
        <p:nvSpPr>
          <p:cNvPr id="12" name="Text 10"/>
          <p:cNvSpPr/>
          <p:nvPr/>
        </p:nvSpPr>
        <p:spPr>
          <a:xfrm>
            <a:off x="523578" y="3522356"/>
            <a:ext cx="8554045" cy="89743"/>
          </a:xfrm>
          <a:prstGeom prst="rect">
            <a:avLst/>
          </a:prstGeom>
          <a:noFill/>
          <a:ln/>
        </p:spPr>
        <p:txBody>
          <a:bodyPr wrap="none" lIns="0" tIns="0" rIns="0" bIns="0" rtlCol="0" anchor="t"/>
          <a:lstStyle/>
          <a:p>
            <a:pPr marL="0" indent="0" algn="l">
              <a:lnSpc>
                <a:spcPct val="100000"/>
              </a:lnSpc>
              <a:buNone/>
            </a:pPr>
            <a:r>
              <a:rPr lang="en-US" sz="1050" kern="0" spc="-12" dirty="0">
                <a:solidFill>
                  <a:srgbClr val="36454F"/>
                </a:solidFill>
                <a:latin typeface="Source Sans 3" pitchFamily="34" charset="0"/>
                <a:ea typeface="Source Sans 3" pitchFamily="34" charset="-122"/>
                <a:cs typeface="Source Sans 3" pitchFamily="34" charset="-120"/>
              </a:rPr>
              <a:t>Maintain command history and execution logs so users can review previous operations and results.</a:t>
            </a:r>
            <a:endParaRPr lang="en-US" sz="1050" dirty="0"/>
          </a:p>
        </p:txBody>
      </p:sp>
      <p:sp>
        <p:nvSpPr>
          <p:cNvPr id="13" name="Text 11"/>
          <p:cNvSpPr/>
          <p:nvPr/>
        </p:nvSpPr>
        <p:spPr>
          <a:xfrm>
            <a:off x="523577" y="3956691"/>
            <a:ext cx="8096845" cy="109984"/>
          </a:xfrm>
          <a:prstGeom prst="rect">
            <a:avLst/>
          </a:prstGeom>
          <a:noFill/>
          <a:ln/>
        </p:spPr>
        <p:txBody>
          <a:bodyPr wrap="none" lIns="0" tIns="0" rIns="0" bIns="0" rtlCol="0" anchor="t"/>
          <a:lstStyle/>
          <a:p>
            <a:pPr marL="0" indent="0" algn="l">
              <a:lnSpc>
                <a:spcPct val="104000"/>
              </a:lnSpc>
              <a:buNone/>
            </a:pPr>
            <a:r>
              <a:rPr lang="en-US" sz="1050" kern="0" spc="-14" dirty="0">
                <a:solidFill>
                  <a:srgbClr val="008000"/>
                </a:solidFill>
                <a:latin typeface="Source Serif 4 SemiBold" pitchFamily="34" charset="0"/>
                <a:ea typeface="Source Serif 4 SemiBold" pitchFamily="34" charset="-122"/>
                <a:cs typeface="Source Serif 4 SemiBold" pitchFamily="34" charset="-120"/>
              </a:rPr>
              <a:t>Remote Server Operations</a:t>
            </a:r>
            <a:endParaRPr lang="en-US" sz="1050" dirty="0"/>
          </a:p>
        </p:txBody>
      </p:sp>
      <p:sp>
        <p:nvSpPr>
          <p:cNvPr id="14" name="Text 12"/>
          <p:cNvSpPr/>
          <p:nvPr/>
        </p:nvSpPr>
        <p:spPr>
          <a:xfrm>
            <a:off x="523574" y="4203725"/>
            <a:ext cx="8554045" cy="89743"/>
          </a:xfrm>
          <a:prstGeom prst="rect">
            <a:avLst/>
          </a:prstGeom>
          <a:noFill/>
          <a:ln/>
        </p:spPr>
        <p:txBody>
          <a:bodyPr wrap="none" lIns="0" tIns="0" rIns="0" bIns="0" rtlCol="0" anchor="t"/>
          <a:lstStyle/>
          <a:p>
            <a:pPr marL="0" indent="0" algn="l">
              <a:lnSpc>
                <a:spcPct val="100000"/>
              </a:lnSpc>
              <a:buNone/>
            </a:pPr>
            <a:r>
              <a:rPr lang="en-US" sz="1050" kern="0" spc="-12" dirty="0">
                <a:solidFill>
                  <a:srgbClr val="36454F"/>
                </a:solidFill>
                <a:latin typeface="Source Sans 3" pitchFamily="34" charset="0"/>
                <a:ea typeface="Source Sans 3" pitchFamily="34" charset="-122"/>
                <a:cs typeface="Source Sans 3" pitchFamily="34" charset="-120"/>
              </a:rPr>
              <a:t>Extend the shell to support secure remote execution and basic DevOps operations on remote systems.</a:t>
            </a:r>
            <a:endParaRPr lang="en-US" sz="1050" dirty="0"/>
          </a:p>
        </p:txBody>
      </p:sp>
      <p:sp>
        <p:nvSpPr>
          <p:cNvPr id="17" name="Rectangle 16">
            <a:extLst>
              <a:ext uri="{FF2B5EF4-FFF2-40B4-BE49-F238E27FC236}">
                <a16:creationId xmlns:a16="http://schemas.microsoft.com/office/drawing/2014/main" id="{46DDF905-7819-F262-AB49-552C2FA5DB46}"/>
              </a:ext>
            </a:extLst>
          </p:cNvPr>
          <p:cNvSpPr/>
          <p:nvPr/>
        </p:nvSpPr>
        <p:spPr>
          <a:xfrm>
            <a:off x="7807890" y="4577010"/>
            <a:ext cx="1274496" cy="555171"/>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9" name="Picture 18">
            <a:extLst>
              <a:ext uri="{FF2B5EF4-FFF2-40B4-BE49-F238E27FC236}">
                <a16:creationId xmlns:a16="http://schemas.microsoft.com/office/drawing/2014/main" id="{3BE962E5-D1F2-22C8-39F9-67648BC0DF8A}"/>
              </a:ext>
            </a:extLst>
          </p:cNvPr>
          <p:cNvPicPr>
            <a:picLocks noChangeAspect="1"/>
          </p:cNvPicPr>
          <p:nvPr/>
        </p:nvPicPr>
        <p:blipFill>
          <a:blip r:embed="rId3"/>
          <a:stretch>
            <a:fillRect/>
          </a:stretch>
        </p:blipFill>
        <p:spPr>
          <a:xfrm>
            <a:off x="7952831" y="4621570"/>
            <a:ext cx="984613" cy="4660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995</Words>
  <Application>Microsoft Office PowerPoint</Application>
  <PresentationFormat>On-screen Show (16:9)</PresentationFormat>
  <Paragraphs>116</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Source Sans 3</vt:lpstr>
      <vt:lpstr>Source Sans 3 Bold</vt:lpstr>
      <vt:lpstr>Arial</vt:lpstr>
      <vt:lpstr>Source Serif 4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Wasim Shaik</cp:lastModifiedBy>
  <cp:revision>2</cp:revision>
  <dcterms:created xsi:type="dcterms:W3CDTF">2026-08-16T06:57:04Z</dcterms:created>
  <dcterms:modified xsi:type="dcterms:W3CDTF">2026-08-16T07:08:52Z</dcterms:modified>
</cp:coreProperties>
</file>